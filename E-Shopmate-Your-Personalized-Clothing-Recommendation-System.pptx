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4630400" cy="8229600"/>
  <p:notesSz cx="8229600" cy="14630400"/>
  <p:embeddedFontLst>
    <p:embeddedFont>
      <p:font typeface="Roboto Medium"/>
      <p:regular r:id="rId16"/>
    </p:embeddedFont>
    <p:embeddedFont>
      <p:font typeface="Roboto Medium"/>
      <p:regular r:id="rId17"/>
    </p:embeddedFont>
    <p:embeddedFont>
      <p:font typeface="Roboto Medium"/>
      <p:regular r:id="rId18"/>
    </p:embeddedFont>
    <p:embeddedFont>
      <p:font typeface="Roboto Medium"/>
      <p:regular r:id="rId19"/>
    </p:embeddedFont>
    <p:embeddedFont>
      <p:font typeface="Roboto"/>
      <p:regular r:id="rId20"/>
    </p:embeddedFont>
    <p:embeddedFont>
      <p:font typeface="Roboto"/>
      <p:regular r:id="rId21"/>
    </p:embeddedFont>
    <p:embeddedFont>
      <p:font typeface="Roboto"/>
      <p:regular r:id="rId22"/>
    </p:embeddedFont>
    <p:embeddedFont>
      <p:font typeface="Roboto"/>
      <p:regular r:id="rId2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font" Target="fonts/font4.fntdata"/><Relationship Id="rId20" Type="http://schemas.openxmlformats.org/officeDocument/2006/relationships/font" Target="fonts/font5.fntdata"/><Relationship Id="rId21" Type="http://schemas.openxmlformats.org/officeDocument/2006/relationships/font" Target="fonts/font6.fntdata"/><Relationship Id="rId22" Type="http://schemas.openxmlformats.org/officeDocument/2006/relationships/font" Target="fonts/font7.fntdata"/><Relationship Id="rId23"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6.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7.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792843"/>
            <a:ext cx="7556421" cy="2126337"/>
          </a:xfrm>
          <a:prstGeom prst="rect">
            <a:avLst/>
          </a:prstGeom>
          <a:noFill/>
          <a:ln/>
        </p:spPr>
        <p:txBody>
          <a:bodyPr wrap="square" lIns="0" tIns="0" rIns="0" bIns="0" rtlCol="0" anchor="t"/>
          <a:lstStyle/>
          <a:p>
            <a:pPr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E-Shopmate: Your Personalized Clothing Recommendation System</a:t>
            </a:r>
            <a:endParaRPr lang="en-US" sz="4450" dirty="0"/>
          </a:p>
        </p:txBody>
      </p:sp>
      <p:sp>
        <p:nvSpPr>
          <p:cNvPr id="4" name="Text 1"/>
          <p:cNvSpPr/>
          <p:nvPr/>
        </p:nvSpPr>
        <p:spPr>
          <a:xfrm>
            <a:off x="6280190" y="4259342"/>
            <a:ext cx="7556421" cy="2177415"/>
          </a:xfrm>
          <a:prstGeom prst="rect">
            <a:avLst/>
          </a:prstGeom>
          <a:noFill/>
          <a:ln/>
        </p:spPr>
        <p:txBody>
          <a:bodyPr wrap="square" lIns="0" tIns="0" rIns="0" bIns="0" rtlCol="0" anchor="t"/>
          <a:lstStyle/>
          <a:p>
            <a:pPr indent="0" marL="0">
              <a:lnSpc>
                <a:spcPts val="2850"/>
              </a:lnSpc>
              <a:buNone/>
            </a:pPr>
            <a:r>
              <a:rPr lang="en-US" sz="1750" dirty="0">
                <a:solidFill>
                  <a:srgbClr val="CFD0D8"/>
                </a:solidFill>
                <a:latin typeface="Roboto" pitchFamily="34" charset="0"/>
                <a:ea typeface="Roboto" pitchFamily="34" charset="-122"/>
                <a:cs typeface="Roboto" pitchFamily="34" charset="-120"/>
              </a:rPr>
              <a:t>Welcome to the presentation of E-Shopmate, a revolutionary clothing recommendation system designed to simplify your shopping experience and help you find the perfect outfit. E-Shopmate utilizes advanced machine learning algorithms to understand your individual style and preferences, providing you with personalized recommendations for clothing that you'll love.</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195513"/>
            <a:ext cx="6963251" cy="708779"/>
          </a:xfrm>
          <a:prstGeom prst="rect">
            <a:avLst/>
          </a:prstGeom>
          <a:noFill/>
          <a:ln/>
        </p:spPr>
        <p:txBody>
          <a:bodyPr wrap="none" lIns="0" tIns="0" rIns="0" bIns="0" rtlCol="0" anchor="t"/>
          <a:lstStyle/>
          <a:p>
            <a:pPr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Introduction to E-Shopmate</a:t>
            </a:r>
            <a:endParaRPr lang="en-US" sz="4450" dirty="0"/>
          </a:p>
        </p:txBody>
      </p:sp>
      <p:sp>
        <p:nvSpPr>
          <p:cNvPr id="3" name="Text 1"/>
          <p:cNvSpPr/>
          <p:nvPr/>
        </p:nvSpPr>
        <p:spPr>
          <a:xfrm>
            <a:off x="793790" y="3448526"/>
            <a:ext cx="6244709" cy="1088708"/>
          </a:xfrm>
          <a:prstGeom prst="rect">
            <a:avLst/>
          </a:prstGeom>
          <a:noFill/>
          <a:ln/>
        </p:spPr>
        <p:txBody>
          <a:bodyPr wrap="square" lIns="0" tIns="0" rIns="0" bIns="0" rtlCol="0" anchor="t"/>
          <a:lstStyle/>
          <a:p>
            <a:pPr indent="0" marL="0">
              <a:lnSpc>
                <a:spcPts val="2850"/>
              </a:lnSpc>
              <a:buNone/>
            </a:pPr>
            <a:r>
              <a:rPr lang="en-US" sz="1750" dirty="0">
                <a:solidFill>
                  <a:srgbClr val="CFD0D8"/>
                </a:solidFill>
                <a:latin typeface="Roboto" pitchFamily="34" charset="0"/>
                <a:ea typeface="Roboto" pitchFamily="34" charset="-122"/>
                <a:cs typeface="Roboto" pitchFamily="34" charset="-120"/>
              </a:rPr>
              <a:t>E-Shopmate is a user-friendly platform that utilizes advanced machine learning algorithms to analyze your past purchases, browsing history, and style preferences.</a:t>
            </a:r>
            <a:endParaRPr lang="en-US" sz="1750" dirty="0"/>
          </a:p>
        </p:txBody>
      </p:sp>
      <p:sp>
        <p:nvSpPr>
          <p:cNvPr id="4" name="Text 2"/>
          <p:cNvSpPr/>
          <p:nvPr/>
        </p:nvSpPr>
        <p:spPr>
          <a:xfrm>
            <a:off x="793790" y="4741307"/>
            <a:ext cx="6244709" cy="725805"/>
          </a:xfrm>
          <a:prstGeom prst="rect">
            <a:avLst/>
          </a:prstGeom>
          <a:noFill/>
          <a:ln/>
        </p:spPr>
        <p:txBody>
          <a:bodyPr wrap="square" lIns="0" tIns="0" rIns="0" bIns="0" rtlCol="0" anchor="t"/>
          <a:lstStyle/>
          <a:p>
            <a:pPr indent="0" marL="0">
              <a:lnSpc>
                <a:spcPts val="2850"/>
              </a:lnSpc>
              <a:buNone/>
            </a:pPr>
            <a:r>
              <a:rPr lang="en-US" sz="1750" dirty="0">
                <a:solidFill>
                  <a:srgbClr val="CFD0D8"/>
                </a:solidFill>
                <a:latin typeface="Roboto" pitchFamily="34" charset="0"/>
                <a:ea typeface="Roboto" pitchFamily="34" charset="-122"/>
                <a:cs typeface="Roboto" pitchFamily="34" charset="-120"/>
              </a:rPr>
              <a:t>This data is used to generate personalized recommendations for clothing items that are tailored to your individual style.</a:t>
            </a:r>
            <a:endParaRPr lang="en-US" sz="1750" dirty="0"/>
          </a:p>
        </p:txBody>
      </p:sp>
      <p:sp>
        <p:nvSpPr>
          <p:cNvPr id="5" name="Text 3"/>
          <p:cNvSpPr/>
          <p:nvPr/>
        </p:nvSpPr>
        <p:spPr>
          <a:xfrm>
            <a:off x="7599521" y="3448526"/>
            <a:ext cx="6244709" cy="1088708"/>
          </a:xfrm>
          <a:prstGeom prst="rect">
            <a:avLst/>
          </a:prstGeom>
          <a:noFill/>
          <a:ln/>
        </p:spPr>
        <p:txBody>
          <a:bodyPr wrap="square" lIns="0" tIns="0" rIns="0" bIns="0" rtlCol="0" anchor="t"/>
          <a:lstStyle/>
          <a:p>
            <a:pPr indent="0" marL="0">
              <a:lnSpc>
                <a:spcPts val="2850"/>
              </a:lnSpc>
              <a:buNone/>
            </a:pPr>
            <a:r>
              <a:rPr lang="en-US" sz="1750" dirty="0">
                <a:solidFill>
                  <a:srgbClr val="CFD0D8"/>
                </a:solidFill>
                <a:latin typeface="Roboto" pitchFamily="34" charset="0"/>
                <a:ea typeface="Roboto" pitchFamily="34" charset="-122"/>
                <a:cs typeface="Roboto" pitchFamily="34" charset="-120"/>
              </a:rPr>
              <a:t>E-Shopmate seamlessly integrates with various online clothing retailers, making it easy for you to browse and purchase recommended items directly within the app.</a:t>
            </a:r>
            <a:endParaRPr lang="en-US" sz="1750" dirty="0"/>
          </a:p>
        </p:txBody>
      </p:sp>
      <p:sp>
        <p:nvSpPr>
          <p:cNvPr id="6" name="Text 4"/>
          <p:cNvSpPr/>
          <p:nvPr/>
        </p:nvSpPr>
        <p:spPr>
          <a:xfrm>
            <a:off x="7599521" y="4741307"/>
            <a:ext cx="6244709" cy="1088708"/>
          </a:xfrm>
          <a:prstGeom prst="rect">
            <a:avLst/>
          </a:prstGeom>
          <a:noFill/>
          <a:ln/>
        </p:spPr>
        <p:txBody>
          <a:bodyPr wrap="square" lIns="0" tIns="0" rIns="0" bIns="0" rtlCol="0" anchor="t"/>
          <a:lstStyle/>
          <a:p>
            <a:pPr indent="0" marL="0">
              <a:lnSpc>
                <a:spcPts val="2850"/>
              </a:lnSpc>
              <a:buNone/>
            </a:pPr>
            <a:r>
              <a:rPr lang="en-US" sz="1750" dirty="0">
                <a:solidFill>
                  <a:srgbClr val="CFD0D8"/>
                </a:solidFill>
                <a:latin typeface="Roboto" pitchFamily="34" charset="0"/>
                <a:ea typeface="Roboto" pitchFamily="34" charset="-122"/>
                <a:cs typeface="Roboto" pitchFamily="34" charset="-120"/>
              </a:rPr>
              <a:t>It offers a convenient and personalized shopping experience, saving you time and effort while ensuring you find clothing that you'll love.</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739616"/>
            <a:ext cx="5670590" cy="708779"/>
          </a:xfrm>
          <a:prstGeom prst="rect">
            <a:avLst/>
          </a:prstGeom>
          <a:noFill/>
          <a:ln/>
        </p:spPr>
        <p:txBody>
          <a:bodyPr wrap="none" lIns="0" tIns="0" rIns="0" bIns="0" rtlCol="0" anchor="t"/>
          <a:lstStyle/>
          <a:p>
            <a:pPr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Goals of E-Shopmate</a:t>
            </a:r>
            <a:endParaRPr lang="en-US" sz="4450" dirty="0"/>
          </a:p>
        </p:txBody>
      </p:sp>
      <p:sp>
        <p:nvSpPr>
          <p:cNvPr id="4" name="Shape 1"/>
          <p:cNvSpPr/>
          <p:nvPr/>
        </p:nvSpPr>
        <p:spPr>
          <a:xfrm>
            <a:off x="6280190" y="2043708"/>
            <a:ext cx="510302" cy="510302"/>
          </a:xfrm>
          <a:prstGeom prst="roundRect">
            <a:avLst>
              <a:gd name="adj" fmla="val 18669"/>
            </a:avLst>
          </a:prstGeom>
          <a:solidFill>
            <a:srgbClr val="182567"/>
          </a:solidFill>
          <a:ln w="7620">
            <a:solidFill>
              <a:srgbClr val="313E80"/>
            </a:solidFill>
            <a:prstDash val="solid"/>
          </a:ln>
        </p:spPr>
      </p:sp>
      <p:sp>
        <p:nvSpPr>
          <p:cNvPr id="5" name="Text 2"/>
          <p:cNvSpPr/>
          <p:nvPr/>
        </p:nvSpPr>
        <p:spPr>
          <a:xfrm>
            <a:off x="6438662" y="2128718"/>
            <a:ext cx="193358" cy="340281"/>
          </a:xfrm>
          <a:prstGeom prst="rect">
            <a:avLst/>
          </a:prstGeom>
          <a:noFill/>
          <a:ln/>
        </p:spPr>
        <p:txBody>
          <a:bodyPr wrap="none" lIns="0" tIns="0" rIns="0" bIns="0" rtlCol="0" anchor="t"/>
          <a:lstStyle/>
          <a:p>
            <a:pPr algn="ctr" indent="0" marL="0">
              <a:lnSpc>
                <a:spcPts val="2650"/>
              </a:lnSpc>
              <a:buNone/>
            </a:pPr>
            <a:r>
              <a:rPr lang="en-US" sz="2650" dirty="0">
                <a:solidFill>
                  <a:srgbClr val="CFD0D8"/>
                </a:solidFill>
                <a:latin typeface="Roboto Medium" pitchFamily="34" charset="0"/>
                <a:ea typeface="Roboto Medium" pitchFamily="34" charset="-122"/>
                <a:cs typeface="Roboto Medium" pitchFamily="34" charset="-120"/>
              </a:rPr>
              <a:t>1</a:t>
            </a:r>
            <a:endParaRPr lang="en-US" sz="2650" dirty="0"/>
          </a:p>
        </p:txBody>
      </p:sp>
      <p:sp>
        <p:nvSpPr>
          <p:cNvPr id="6" name="Text 3"/>
          <p:cNvSpPr/>
          <p:nvPr/>
        </p:nvSpPr>
        <p:spPr>
          <a:xfrm>
            <a:off x="7017306" y="2043708"/>
            <a:ext cx="2916436" cy="354330"/>
          </a:xfrm>
          <a:prstGeom prst="rect">
            <a:avLst/>
          </a:prstGeom>
          <a:noFill/>
          <a:ln/>
        </p:spPr>
        <p:txBody>
          <a:bodyPr wrap="none" lIns="0" tIns="0" rIns="0" bIns="0" rtlCol="0" anchor="t"/>
          <a:lstStyle/>
          <a:p>
            <a:pPr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Personalized Shopping</a:t>
            </a:r>
            <a:endParaRPr lang="en-US" sz="2200" dirty="0"/>
          </a:p>
        </p:txBody>
      </p:sp>
      <p:sp>
        <p:nvSpPr>
          <p:cNvPr id="7" name="Text 4"/>
          <p:cNvSpPr/>
          <p:nvPr/>
        </p:nvSpPr>
        <p:spPr>
          <a:xfrm>
            <a:off x="7017306" y="2534126"/>
            <a:ext cx="2927747" cy="2540318"/>
          </a:xfrm>
          <a:prstGeom prst="rect">
            <a:avLst/>
          </a:prstGeom>
          <a:noFill/>
          <a:ln/>
        </p:spPr>
        <p:txBody>
          <a:bodyPr wrap="square" lIns="0" tIns="0" rIns="0" bIns="0" rtlCol="0" anchor="t"/>
          <a:lstStyle/>
          <a:p>
            <a:pPr indent="0" marL="0">
              <a:lnSpc>
                <a:spcPts val="2850"/>
              </a:lnSpc>
              <a:buNone/>
            </a:pPr>
            <a:r>
              <a:rPr lang="en-US" sz="1750" dirty="0">
                <a:solidFill>
                  <a:srgbClr val="CFD0D8"/>
                </a:solidFill>
                <a:latin typeface="Roboto" pitchFamily="34" charset="0"/>
                <a:ea typeface="Roboto" pitchFamily="34" charset="-122"/>
                <a:cs typeface="Roboto" pitchFamily="34" charset="-120"/>
              </a:rPr>
              <a:t>E-Shopmate aims to deliver highly personalized clothing recommendations that cater to individual style preferences, ensuring users discover clothing items they'll truly love and wear.</a:t>
            </a:r>
            <a:endParaRPr lang="en-US" sz="1750" dirty="0"/>
          </a:p>
        </p:txBody>
      </p:sp>
      <p:sp>
        <p:nvSpPr>
          <p:cNvPr id="8" name="Shape 5"/>
          <p:cNvSpPr/>
          <p:nvPr/>
        </p:nvSpPr>
        <p:spPr>
          <a:xfrm>
            <a:off x="10171867" y="2043708"/>
            <a:ext cx="510302" cy="510302"/>
          </a:xfrm>
          <a:prstGeom prst="roundRect">
            <a:avLst>
              <a:gd name="adj" fmla="val 18669"/>
            </a:avLst>
          </a:prstGeom>
          <a:solidFill>
            <a:srgbClr val="182567"/>
          </a:solidFill>
          <a:ln w="7620">
            <a:solidFill>
              <a:srgbClr val="313E80"/>
            </a:solidFill>
            <a:prstDash val="solid"/>
          </a:ln>
        </p:spPr>
      </p:sp>
      <p:sp>
        <p:nvSpPr>
          <p:cNvPr id="9" name="Text 6"/>
          <p:cNvSpPr/>
          <p:nvPr/>
        </p:nvSpPr>
        <p:spPr>
          <a:xfrm>
            <a:off x="10330339" y="2128718"/>
            <a:ext cx="193358" cy="340281"/>
          </a:xfrm>
          <a:prstGeom prst="rect">
            <a:avLst/>
          </a:prstGeom>
          <a:noFill/>
          <a:ln/>
        </p:spPr>
        <p:txBody>
          <a:bodyPr wrap="none" lIns="0" tIns="0" rIns="0" bIns="0" rtlCol="0" anchor="t"/>
          <a:lstStyle/>
          <a:p>
            <a:pPr algn="ctr" indent="0" marL="0">
              <a:lnSpc>
                <a:spcPts val="2650"/>
              </a:lnSpc>
              <a:buNone/>
            </a:pPr>
            <a:r>
              <a:rPr lang="en-US" sz="2650" dirty="0">
                <a:solidFill>
                  <a:srgbClr val="CFD0D8"/>
                </a:solidFill>
                <a:latin typeface="Roboto Medium" pitchFamily="34" charset="0"/>
                <a:ea typeface="Roboto Medium" pitchFamily="34" charset="-122"/>
                <a:cs typeface="Roboto Medium" pitchFamily="34" charset="-120"/>
              </a:rPr>
              <a:t>2</a:t>
            </a:r>
            <a:endParaRPr lang="en-US" sz="2650" dirty="0"/>
          </a:p>
        </p:txBody>
      </p:sp>
      <p:sp>
        <p:nvSpPr>
          <p:cNvPr id="10" name="Text 7"/>
          <p:cNvSpPr/>
          <p:nvPr/>
        </p:nvSpPr>
        <p:spPr>
          <a:xfrm>
            <a:off x="10908983" y="2043708"/>
            <a:ext cx="2927747" cy="708660"/>
          </a:xfrm>
          <a:prstGeom prst="rect">
            <a:avLst/>
          </a:prstGeom>
          <a:noFill/>
          <a:ln/>
        </p:spPr>
        <p:txBody>
          <a:bodyPr wrap="square" lIns="0" tIns="0" rIns="0" bIns="0" rtlCol="0" anchor="t"/>
          <a:lstStyle/>
          <a:p>
            <a:pPr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Enhanced User Experience</a:t>
            </a:r>
            <a:endParaRPr lang="en-US" sz="2200" dirty="0"/>
          </a:p>
        </p:txBody>
      </p:sp>
      <p:sp>
        <p:nvSpPr>
          <p:cNvPr id="11" name="Text 8"/>
          <p:cNvSpPr/>
          <p:nvPr/>
        </p:nvSpPr>
        <p:spPr>
          <a:xfrm>
            <a:off x="10908983" y="2888456"/>
            <a:ext cx="2927747" cy="2540318"/>
          </a:xfrm>
          <a:prstGeom prst="rect">
            <a:avLst/>
          </a:prstGeom>
          <a:noFill/>
          <a:ln/>
        </p:spPr>
        <p:txBody>
          <a:bodyPr wrap="square" lIns="0" tIns="0" rIns="0" bIns="0" rtlCol="0" anchor="t"/>
          <a:lstStyle/>
          <a:p>
            <a:pPr indent="0" marL="0">
              <a:lnSpc>
                <a:spcPts val="2850"/>
              </a:lnSpc>
              <a:buNone/>
            </a:pPr>
            <a:r>
              <a:rPr lang="en-US" sz="1750" dirty="0">
                <a:solidFill>
                  <a:srgbClr val="CFD0D8"/>
                </a:solidFill>
                <a:latin typeface="Roboto" pitchFamily="34" charset="0"/>
                <a:ea typeface="Roboto" pitchFamily="34" charset="-122"/>
                <a:cs typeface="Roboto" pitchFamily="34" charset="-120"/>
              </a:rPr>
              <a:t>E-Shopmate seeks to streamline the shopping process by providing relevant recommendations, saving users time and effort while making shopping enjoyable and rewarding.</a:t>
            </a:r>
            <a:endParaRPr lang="en-US" sz="1750" dirty="0"/>
          </a:p>
        </p:txBody>
      </p:sp>
      <p:sp>
        <p:nvSpPr>
          <p:cNvPr id="12" name="Shape 9"/>
          <p:cNvSpPr/>
          <p:nvPr/>
        </p:nvSpPr>
        <p:spPr>
          <a:xfrm>
            <a:off x="6280190" y="5910739"/>
            <a:ext cx="510302" cy="510302"/>
          </a:xfrm>
          <a:prstGeom prst="roundRect">
            <a:avLst>
              <a:gd name="adj" fmla="val 18669"/>
            </a:avLst>
          </a:prstGeom>
          <a:solidFill>
            <a:srgbClr val="182567"/>
          </a:solidFill>
          <a:ln w="7620">
            <a:solidFill>
              <a:srgbClr val="313E80"/>
            </a:solidFill>
            <a:prstDash val="solid"/>
          </a:ln>
        </p:spPr>
      </p:sp>
      <p:sp>
        <p:nvSpPr>
          <p:cNvPr id="13" name="Text 10"/>
          <p:cNvSpPr/>
          <p:nvPr/>
        </p:nvSpPr>
        <p:spPr>
          <a:xfrm>
            <a:off x="6438662" y="5995749"/>
            <a:ext cx="193358" cy="340281"/>
          </a:xfrm>
          <a:prstGeom prst="rect">
            <a:avLst/>
          </a:prstGeom>
          <a:noFill/>
          <a:ln/>
        </p:spPr>
        <p:txBody>
          <a:bodyPr wrap="none" lIns="0" tIns="0" rIns="0" bIns="0" rtlCol="0" anchor="t"/>
          <a:lstStyle/>
          <a:p>
            <a:pPr algn="ctr" indent="0" marL="0">
              <a:lnSpc>
                <a:spcPts val="2650"/>
              </a:lnSpc>
              <a:buNone/>
            </a:pPr>
            <a:r>
              <a:rPr lang="en-US" sz="2650" dirty="0">
                <a:solidFill>
                  <a:srgbClr val="CFD0D8"/>
                </a:solidFill>
                <a:latin typeface="Roboto Medium" pitchFamily="34" charset="0"/>
                <a:ea typeface="Roboto Medium" pitchFamily="34" charset="-122"/>
                <a:cs typeface="Roboto Medium" pitchFamily="34" charset="-120"/>
              </a:rPr>
              <a:t>3</a:t>
            </a:r>
            <a:endParaRPr lang="en-US" sz="2650" dirty="0"/>
          </a:p>
        </p:txBody>
      </p:sp>
      <p:sp>
        <p:nvSpPr>
          <p:cNvPr id="14" name="Text 11"/>
          <p:cNvSpPr/>
          <p:nvPr/>
        </p:nvSpPr>
        <p:spPr>
          <a:xfrm>
            <a:off x="7017306" y="5910739"/>
            <a:ext cx="2835235" cy="354330"/>
          </a:xfrm>
          <a:prstGeom prst="rect">
            <a:avLst/>
          </a:prstGeom>
          <a:noFill/>
          <a:ln/>
        </p:spPr>
        <p:txBody>
          <a:bodyPr wrap="none" lIns="0" tIns="0" rIns="0" bIns="0" rtlCol="0" anchor="t"/>
          <a:lstStyle/>
          <a:p>
            <a:pPr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Seamless Integration</a:t>
            </a:r>
            <a:endParaRPr lang="en-US" sz="2200" dirty="0"/>
          </a:p>
        </p:txBody>
      </p:sp>
      <p:sp>
        <p:nvSpPr>
          <p:cNvPr id="15" name="Text 12"/>
          <p:cNvSpPr/>
          <p:nvPr/>
        </p:nvSpPr>
        <p:spPr>
          <a:xfrm>
            <a:off x="7017306" y="6401157"/>
            <a:ext cx="6819305" cy="1088708"/>
          </a:xfrm>
          <a:prstGeom prst="rect">
            <a:avLst/>
          </a:prstGeom>
          <a:noFill/>
          <a:ln/>
        </p:spPr>
        <p:txBody>
          <a:bodyPr wrap="square" lIns="0" tIns="0" rIns="0" bIns="0" rtlCol="0" anchor="t"/>
          <a:lstStyle/>
          <a:p>
            <a:pPr indent="0" marL="0">
              <a:lnSpc>
                <a:spcPts val="2850"/>
              </a:lnSpc>
              <a:buNone/>
            </a:pPr>
            <a:r>
              <a:rPr lang="en-US" sz="1750" dirty="0">
                <a:solidFill>
                  <a:srgbClr val="CFD0D8"/>
                </a:solidFill>
                <a:latin typeface="Roboto" pitchFamily="34" charset="0"/>
                <a:ea typeface="Roboto" pitchFamily="34" charset="-122"/>
                <a:cs typeface="Roboto" pitchFamily="34" charset="-120"/>
              </a:rPr>
              <a:t>E-Shopmate aims to seamlessly integrate with various online clothing retailers, providing a unified platform for browsing, discovering, and purchasing clothing recommendations.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33172"/>
          </a:xfrm>
          <a:prstGeom prst="rect">
            <a:avLst/>
          </a:prstGeom>
        </p:spPr>
      </p:pic>
      <p:sp>
        <p:nvSpPr>
          <p:cNvPr id="3" name="Text 0"/>
          <p:cNvSpPr/>
          <p:nvPr/>
        </p:nvSpPr>
        <p:spPr>
          <a:xfrm>
            <a:off x="6138743" y="512564"/>
            <a:ext cx="4660344" cy="582454"/>
          </a:xfrm>
          <a:prstGeom prst="rect">
            <a:avLst/>
          </a:prstGeom>
          <a:noFill/>
          <a:ln/>
        </p:spPr>
        <p:txBody>
          <a:bodyPr wrap="none" lIns="0" tIns="0" rIns="0" bIns="0" rtlCol="0" anchor="t"/>
          <a:lstStyle/>
          <a:p>
            <a:pPr indent="0" marL="0">
              <a:lnSpc>
                <a:spcPts val="4550"/>
              </a:lnSpc>
              <a:buNone/>
            </a:pPr>
            <a:r>
              <a:rPr lang="en-US" sz="3650" dirty="0">
                <a:solidFill>
                  <a:srgbClr val="FFFFFF"/>
                </a:solidFill>
                <a:latin typeface="Roboto Medium" pitchFamily="34" charset="0"/>
                <a:ea typeface="Roboto Medium" pitchFamily="34" charset="-122"/>
                <a:cs typeface="Roboto Medium" pitchFamily="34" charset="-120"/>
              </a:rPr>
              <a:t>How It Works</a:t>
            </a:r>
            <a:endParaRPr lang="en-US" sz="3650" dirty="0"/>
          </a:p>
        </p:txBody>
      </p:sp>
      <p:sp>
        <p:nvSpPr>
          <p:cNvPr id="4" name="Shape 1"/>
          <p:cNvSpPr/>
          <p:nvPr/>
        </p:nvSpPr>
        <p:spPr>
          <a:xfrm>
            <a:off x="6406872" y="1374577"/>
            <a:ext cx="22860" cy="6346031"/>
          </a:xfrm>
          <a:prstGeom prst="roundRect">
            <a:avLst>
              <a:gd name="adj" fmla="val 342494"/>
            </a:avLst>
          </a:prstGeom>
          <a:solidFill>
            <a:srgbClr val="313E80"/>
          </a:solidFill>
          <a:ln/>
        </p:spPr>
      </p:sp>
      <p:sp>
        <p:nvSpPr>
          <p:cNvPr id="5" name="Shape 2"/>
          <p:cNvSpPr/>
          <p:nvPr/>
        </p:nvSpPr>
        <p:spPr>
          <a:xfrm>
            <a:off x="6605111" y="1782485"/>
            <a:ext cx="652343" cy="22860"/>
          </a:xfrm>
          <a:prstGeom prst="roundRect">
            <a:avLst>
              <a:gd name="adj" fmla="val 342494"/>
            </a:avLst>
          </a:prstGeom>
          <a:solidFill>
            <a:srgbClr val="313E80"/>
          </a:solidFill>
          <a:ln/>
        </p:spPr>
      </p:sp>
      <p:sp>
        <p:nvSpPr>
          <p:cNvPr id="6" name="Shape 3"/>
          <p:cNvSpPr/>
          <p:nvPr/>
        </p:nvSpPr>
        <p:spPr>
          <a:xfrm>
            <a:off x="6208633" y="1584246"/>
            <a:ext cx="419338" cy="419338"/>
          </a:xfrm>
          <a:prstGeom prst="roundRect">
            <a:avLst>
              <a:gd name="adj" fmla="val 18671"/>
            </a:avLst>
          </a:prstGeom>
          <a:solidFill>
            <a:srgbClr val="182567"/>
          </a:solidFill>
          <a:ln w="7620">
            <a:solidFill>
              <a:srgbClr val="313E80"/>
            </a:solidFill>
            <a:prstDash val="solid"/>
          </a:ln>
        </p:spPr>
      </p:sp>
      <p:sp>
        <p:nvSpPr>
          <p:cNvPr id="7" name="Text 4"/>
          <p:cNvSpPr/>
          <p:nvPr/>
        </p:nvSpPr>
        <p:spPr>
          <a:xfrm>
            <a:off x="6338768" y="1654016"/>
            <a:ext cx="158948" cy="279678"/>
          </a:xfrm>
          <a:prstGeom prst="rect">
            <a:avLst/>
          </a:prstGeom>
          <a:noFill/>
          <a:ln/>
        </p:spPr>
        <p:txBody>
          <a:bodyPr wrap="none" lIns="0" tIns="0" rIns="0" bIns="0" rtlCol="0" anchor="t"/>
          <a:lstStyle/>
          <a:p>
            <a:pPr algn="ctr" indent="0" marL="0">
              <a:lnSpc>
                <a:spcPts val="2200"/>
              </a:lnSpc>
              <a:buNone/>
            </a:pPr>
            <a:r>
              <a:rPr lang="en-US" sz="2200" dirty="0">
                <a:solidFill>
                  <a:srgbClr val="CFD0D8"/>
                </a:solidFill>
                <a:latin typeface="Roboto Medium" pitchFamily="34" charset="0"/>
                <a:ea typeface="Roboto Medium" pitchFamily="34" charset="-122"/>
                <a:cs typeface="Roboto Medium" pitchFamily="34" charset="-120"/>
              </a:rPr>
              <a:t>1</a:t>
            </a:r>
            <a:endParaRPr lang="en-US" sz="2200" dirty="0"/>
          </a:p>
        </p:txBody>
      </p:sp>
      <p:sp>
        <p:nvSpPr>
          <p:cNvPr id="8" name="Text 5"/>
          <p:cNvSpPr/>
          <p:nvPr/>
        </p:nvSpPr>
        <p:spPr>
          <a:xfrm>
            <a:off x="7443549" y="1560909"/>
            <a:ext cx="2330172" cy="291227"/>
          </a:xfrm>
          <a:prstGeom prst="rect">
            <a:avLst/>
          </a:prstGeom>
          <a:noFill/>
          <a:ln/>
        </p:spPr>
        <p:txBody>
          <a:bodyPr wrap="none" lIns="0" tIns="0" rIns="0" bIns="0" rtlCol="0" anchor="t"/>
          <a:lstStyle/>
          <a:p>
            <a:pPr algn="l" indent="0" marL="0">
              <a:lnSpc>
                <a:spcPts val="2250"/>
              </a:lnSpc>
              <a:buNone/>
            </a:pPr>
            <a:r>
              <a:rPr lang="en-US" sz="1800" dirty="0">
                <a:solidFill>
                  <a:srgbClr val="CFD0D8"/>
                </a:solidFill>
                <a:latin typeface="Roboto Medium" pitchFamily="34" charset="0"/>
                <a:ea typeface="Roboto Medium" pitchFamily="34" charset="-122"/>
                <a:cs typeface="Roboto Medium" pitchFamily="34" charset="-120"/>
              </a:rPr>
              <a:t>Data Collection</a:t>
            </a:r>
            <a:endParaRPr lang="en-US" sz="1800" dirty="0"/>
          </a:p>
        </p:txBody>
      </p:sp>
      <p:sp>
        <p:nvSpPr>
          <p:cNvPr id="9" name="Text 6"/>
          <p:cNvSpPr/>
          <p:nvPr/>
        </p:nvSpPr>
        <p:spPr>
          <a:xfrm>
            <a:off x="7443549" y="1963936"/>
            <a:ext cx="6534507" cy="596503"/>
          </a:xfrm>
          <a:prstGeom prst="rect">
            <a:avLst/>
          </a:prstGeom>
          <a:noFill/>
          <a:ln/>
        </p:spPr>
        <p:txBody>
          <a:bodyPr wrap="square" lIns="0" tIns="0" rIns="0" bIns="0" rtlCol="0" anchor="t"/>
          <a:lstStyle/>
          <a:p>
            <a:pPr algn="l" indent="0" marL="0">
              <a:lnSpc>
                <a:spcPts val="2300"/>
              </a:lnSpc>
              <a:buNone/>
            </a:pPr>
            <a:r>
              <a:rPr lang="en-US" sz="1450" dirty="0">
                <a:solidFill>
                  <a:srgbClr val="CFD0D8"/>
                </a:solidFill>
                <a:latin typeface="Roboto" pitchFamily="34" charset="0"/>
                <a:ea typeface="Roboto" pitchFamily="34" charset="-122"/>
                <a:cs typeface="Roboto" pitchFamily="34" charset="-120"/>
              </a:rPr>
              <a:t>E-Shopmate gathers data from various sources, including user profiles, browsing history, past purchases, and style preferences.</a:t>
            </a:r>
            <a:endParaRPr lang="en-US" sz="1450" dirty="0"/>
          </a:p>
        </p:txBody>
      </p:sp>
      <p:sp>
        <p:nvSpPr>
          <p:cNvPr id="10" name="Shape 7"/>
          <p:cNvSpPr/>
          <p:nvPr/>
        </p:nvSpPr>
        <p:spPr>
          <a:xfrm>
            <a:off x="6605111" y="3341013"/>
            <a:ext cx="652343" cy="22860"/>
          </a:xfrm>
          <a:prstGeom prst="roundRect">
            <a:avLst>
              <a:gd name="adj" fmla="val 342494"/>
            </a:avLst>
          </a:prstGeom>
          <a:solidFill>
            <a:srgbClr val="313E80"/>
          </a:solidFill>
          <a:ln/>
        </p:spPr>
      </p:sp>
      <p:sp>
        <p:nvSpPr>
          <p:cNvPr id="11" name="Shape 8"/>
          <p:cNvSpPr/>
          <p:nvPr/>
        </p:nvSpPr>
        <p:spPr>
          <a:xfrm>
            <a:off x="6208633" y="3142774"/>
            <a:ext cx="419338" cy="419338"/>
          </a:xfrm>
          <a:prstGeom prst="roundRect">
            <a:avLst>
              <a:gd name="adj" fmla="val 18671"/>
            </a:avLst>
          </a:prstGeom>
          <a:solidFill>
            <a:srgbClr val="182567"/>
          </a:solidFill>
          <a:ln w="7620">
            <a:solidFill>
              <a:srgbClr val="313E80"/>
            </a:solidFill>
            <a:prstDash val="solid"/>
          </a:ln>
        </p:spPr>
      </p:sp>
      <p:sp>
        <p:nvSpPr>
          <p:cNvPr id="12" name="Text 9"/>
          <p:cNvSpPr/>
          <p:nvPr/>
        </p:nvSpPr>
        <p:spPr>
          <a:xfrm>
            <a:off x="6338768" y="3212544"/>
            <a:ext cx="158948" cy="279678"/>
          </a:xfrm>
          <a:prstGeom prst="rect">
            <a:avLst/>
          </a:prstGeom>
          <a:noFill/>
          <a:ln/>
        </p:spPr>
        <p:txBody>
          <a:bodyPr wrap="none" lIns="0" tIns="0" rIns="0" bIns="0" rtlCol="0" anchor="t"/>
          <a:lstStyle/>
          <a:p>
            <a:pPr algn="ctr" indent="0" marL="0">
              <a:lnSpc>
                <a:spcPts val="2200"/>
              </a:lnSpc>
              <a:buNone/>
            </a:pPr>
            <a:r>
              <a:rPr lang="en-US" sz="2200" dirty="0">
                <a:solidFill>
                  <a:srgbClr val="CFD0D8"/>
                </a:solidFill>
                <a:latin typeface="Roboto Medium" pitchFamily="34" charset="0"/>
                <a:ea typeface="Roboto Medium" pitchFamily="34" charset="-122"/>
                <a:cs typeface="Roboto Medium" pitchFamily="34" charset="-120"/>
              </a:rPr>
              <a:t>2</a:t>
            </a:r>
            <a:endParaRPr lang="en-US" sz="2200" dirty="0"/>
          </a:p>
        </p:txBody>
      </p:sp>
      <p:sp>
        <p:nvSpPr>
          <p:cNvPr id="13" name="Text 10"/>
          <p:cNvSpPr/>
          <p:nvPr/>
        </p:nvSpPr>
        <p:spPr>
          <a:xfrm>
            <a:off x="7443549" y="3119438"/>
            <a:ext cx="2330172" cy="291227"/>
          </a:xfrm>
          <a:prstGeom prst="rect">
            <a:avLst/>
          </a:prstGeom>
          <a:noFill/>
          <a:ln/>
        </p:spPr>
        <p:txBody>
          <a:bodyPr wrap="none" lIns="0" tIns="0" rIns="0" bIns="0" rtlCol="0" anchor="t"/>
          <a:lstStyle/>
          <a:p>
            <a:pPr algn="l" indent="0" marL="0">
              <a:lnSpc>
                <a:spcPts val="2250"/>
              </a:lnSpc>
              <a:buNone/>
            </a:pPr>
            <a:r>
              <a:rPr lang="en-US" sz="1800" dirty="0">
                <a:solidFill>
                  <a:srgbClr val="CFD0D8"/>
                </a:solidFill>
                <a:latin typeface="Roboto Medium" pitchFamily="34" charset="0"/>
                <a:ea typeface="Roboto Medium" pitchFamily="34" charset="-122"/>
                <a:cs typeface="Roboto Medium" pitchFamily="34" charset="-120"/>
              </a:rPr>
              <a:t>Data Analysis</a:t>
            </a:r>
            <a:endParaRPr lang="en-US" sz="1800" dirty="0"/>
          </a:p>
        </p:txBody>
      </p:sp>
      <p:sp>
        <p:nvSpPr>
          <p:cNvPr id="14" name="Text 11"/>
          <p:cNvSpPr/>
          <p:nvPr/>
        </p:nvSpPr>
        <p:spPr>
          <a:xfrm>
            <a:off x="7443549" y="3522464"/>
            <a:ext cx="6534507" cy="596503"/>
          </a:xfrm>
          <a:prstGeom prst="rect">
            <a:avLst/>
          </a:prstGeom>
          <a:noFill/>
          <a:ln/>
        </p:spPr>
        <p:txBody>
          <a:bodyPr wrap="square" lIns="0" tIns="0" rIns="0" bIns="0" rtlCol="0" anchor="t"/>
          <a:lstStyle/>
          <a:p>
            <a:pPr algn="l" indent="0" marL="0">
              <a:lnSpc>
                <a:spcPts val="2300"/>
              </a:lnSpc>
              <a:buNone/>
            </a:pPr>
            <a:r>
              <a:rPr lang="en-US" sz="1450" dirty="0">
                <a:solidFill>
                  <a:srgbClr val="CFD0D8"/>
                </a:solidFill>
                <a:latin typeface="Roboto" pitchFamily="34" charset="0"/>
                <a:ea typeface="Roboto" pitchFamily="34" charset="-122"/>
                <a:cs typeface="Roboto" pitchFamily="34" charset="-120"/>
              </a:rPr>
              <a:t>Advanced machine learning algorithms analyze the collected data to identify patterns and trends, revealing the user's individual style and preferences.</a:t>
            </a:r>
            <a:endParaRPr lang="en-US" sz="1450" dirty="0"/>
          </a:p>
        </p:txBody>
      </p:sp>
      <p:sp>
        <p:nvSpPr>
          <p:cNvPr id="15" name="Shape 12"/>
          <p:cNvSpPr/>
          <p:nvPr/>
        </p:nvSpPr>
        <p:spPr>
          <a:xfrm>
            <a:off x="6605111" y="4899541"/>
            <a:ext cx="652343" cy="22860"/>
          </a:xfrm>
          <a:prstGeom prst="roundRect">
            <a:avLst>
              <a:gd name="adj" fmla="val 342494"/>
            </a:avLst>
          </a:prstGeom>
          <a:solidFill>
            <a:srgbClr val="313E80"/>
          </a:solidFill>
          <a:ln/>
        </p:spPr>
      </p:sp>
      <p:sp>
        <p:nvSpPr>
          <p:cNvPr id="16" name="Shape 13"/>
          <p:cNvSpPr/>
          <p:nvPr/>
        </p:nvSpPr>
        <p:spPr>
          <a:xfrm>
            <a:off x="6208633" y="4701302"/>
            <a:ext cx="419338" cy="419338"/>
          </a:xfrm>
          <a:prstGeom prst="roundRect">
            <a:avLst>
              <a:gd name="adj" fmla="val 18671"/>
            </a:avLst>
          </a:prstGeom>
          <a:solidFill>
            <a:srgbClr val="182567"/>
          </a:solidFill>
          <a:ln w="7620">
            <a:solidFill>
              <a:srgbClr val="313E80"/>
            </a:solidFill>
            <a:prstDash val="solid"/>
          </a:ln>
        </p:spPr>
      </p:sp>
      <p:sp>
        <p:nvSpPr>
          <p:cNvPr id="17" name="Text 14"/>
          <p:cNvSpPr/>
          <p:nvPr/>
        </p:nvSpPr>
        <p:spPr>
          <a:xfrm>
            <a:off x="6338768" y="4771073"/>
            <a:ext cx="158948" cy="279678"/>
          </a:xfrm>
          <a:prstGeom prst="rect">
            <a:avLst/>
          </a:prstGeom>
          <a:noFill/>
          <a:ln/>
        </p:spPr>
        <p:txBody>
          <a:bodyPr wrap="none" lIns="0" tIns="0" rIns="0" bIns="0" rtlCol="0" anchor="t"/>
          <a:lstStyle/>
          <a:p>
            <a:pPr algn="ctr" indent="0" marL="0">
              <a:lnSpc>
                <a:spcPts val="2200"/>
              </a:lnSpc>
              <a:buNone/>
            </a:pPr>
            <a:r>
              <a:rPr lang="en-US" sz="2200" dirty="0">
                <a:solidFill>
                  <a:srgbClr val="CFD0D8"/>
                </a:solidFill>
                <a:latin typeface="Roboto Medium" pitchFamily="34" charset="0"/>
                <a:ea typeface="Roboto Medium" pitchFamily="34" charset="-122"/>
                <a:cs typeface="Roboto Medium" pitchFamily="34" charset="-120"/>
              </a:rPr>
              <a:t>3</a:t>
            </a:r>
            <a:endParaRPr lang="en-US" sz="2200" dirty="0"/>
          </a:p>
        </p:txBody>
      </p:sp>
      <p:sp>
        <p:nvSpPr>
          <p:cNvPr id="18" name="Text 15"/>
          <p:cNvSpPr/>
          <p:nvPr/>
        </p:nvSpPr>
        <p:spPr>
          <a:xfrm>
            <a:off x="7443549" y="4677966"/>
            <a:ext cx="3040499" cy="291227"/>
          </a:xfrm>
          <a:prstGeom prst="rect">
            <a:avLst/>
          </a:prstGeom>
          <a:noFill/>
          <a:ln/>
        </p:spPr>
        <p:txBody>
          <a:bodyPr wrap="none" lIns="0" tIns="0" rIns="0" bIns="0" rtlCol="0" anchor="t"/>
          <a:lstStyle/>
          <a:p>
            <a:pPr algn="l" indent="0" marL="0">
              <a:lnSpc>
                <a:spcPts val="2250"/>
              </a:lnSpc>
              <a:buNone/>
            </a:pPr>
            <a:r>
              <a:rPr lang="en-US" sz="1800" dirty="0">
                <a:solidFill>
                  <a:srgbClr val="CFD0D8"/>
                </a:solidFill>
                <a:latin typeface="Roboto Medium" pitchFamily="34" charset="0"/>
                <a:ea typeface="Roboto Medium" pitchFamily="34" charset="-122"/>
                <a:cs typeface="Roboto Medium" pitchFamily="34" charset="-120"/>
              </a:rPr>
              <a:t>Recommendation Generation</a:t>
            </a:r>
            <a:endParaRPr lang="en-US" sz="1800" dirty="0"/>
          </a:p>
        </p:txBody>
      </p:sp>
      <p:sp>
        <p:nvSpPr>
          <p:cNvPr id="19" name="Text 16"/>
          <p:cNvSpPr/>
          <p:nvPr/>
        </p:nvSpPr>
        <p:spPr>
          <a:xfrm>
            <a:off x="7443549" y="5080992"/>
            <a:ext cx="6534507" cy="596503"/>
          </a:xfrm>
          <a:prstGeom prst="rect">
            <a:avLst/>
          </a:prstGeom>
          <a:noFill/>
          <a:ln/>
        </p:spPr>
        <p:txBody>
          <a:bodyPr wrap="square" lIns="0" tIns="0" rIns="0" bIns="0" rtlCol="0" anchor="t"/>
          <a:lstStyle/>
          <a:p>
            <a:pPr algn="l" indent="0" marL="0">
              <a:lnSpc>
                <a:spcPts val="2300"/>
              </a:lnSpc>
              <a:buNone/>
            </a:pPr>
            <a:r>
              <a:rPr lang="en-US" sz="1450" dirty="0">
                <a:solidFill>
                  <a:srgbClr val="CFD0D8"/>
                </a:solidFill>
                <a:latin typeface="Roboto" pitchFamily="34" charset="0"/>
                <a:ea typeface="Roboto" pitchFamily="34" charset="-122"/>
                <a:cs typeface="Roboto" pitchFamily="34" charset="-120"/>
              </a:rPr>
              <a:t>Based on the analyzed data, E-Shopmate generates personalized clothing recommendations that align with the user's unique style and preferences.</a:t>
            </a:r>
            <a:endParaRPr lang="en-US" sz="1450" dirty="0"/>
          </a:p>
        </p:txBody>
      </p:sp>
      <p:sp>
        <p:nvSpPr>
          <p:cNvPr id="20" name="Shape 17"/>
          <p:cNvSpPr/>
          <p:nvPr/>
        </p:nvSpPr>
        <p:spPr>
          <a:xfrm>
            <a:off x="6605111" y="6458069"/>
            <a:ext cx="652343" cy="22860"/>
          </a:xfrm>
          <a:prstGeom prst="roundRect">
            <a:avLst>
              <a:gd name="adj" fmla="val 342494"/>
            </a:avLst>
          </a:prstGeom>
          <a:solidFill>
            <a:srgbClr val="313E80"/>
          </a:solidFill>
          <a:ln/>
        </p:spPr>
      </p:sp>
      <p:sp>
        <p:nvSpPr>
          <p:cNvPr id="21" name="Shape 18"/>
          <p:cNvSpPr/>
          <p:nvPr/>
        </p:nvSpPr>
        <p:spPr>
          <a:xfrm>
            <a:off x="6208633" y="6259830"/>
            <a:ext cx="419338" cy="419338"/>
          </a:xfrm>
          <a:prstGeom prst="roundRect">
            <a:avLst>
              <a:gd name="adj" fmla="val 18671"/>
            </a:avLst>
          </a:prstGeom>
          <a:solidFill>
            <a:srgbClr val="182567"/>
          </a:solidFill>
          <a:ln w="7620">
            <a:solidFill>
              <a:srgbClr val="313E80"/>
            </a:solidFill>
            <a:prstDash val="solid"/>
          </a:ln>
        </p:spPr>
      </p:sp>
      <p:sp>
        <p:nvSpPr>
          <p:cNvPr id="22" name="Text 19"/>
          <p:cNvSpPr/>
          <p:nvPr/>
        </p:nvSpPr>
        <p:spPr>
          <a:xfrm>
            <a:off x="6338768" y="6329601"/>
            <a:ext cx="158948" cy="279678"/>
          </a:xfrm>
          <a:prstGeom prst="rect">
            <a:avLst/>
          </a:prstGeom>
          <a:noFill/>
          <a:ln/>
        </p:spPr>
        <p:txBody>
          <a:bodyPr wrap="none" lIns="0" tIns="0" rIns="0" bIns="0" rtlCol="0" anchor="t"/>
          <a:lstStyle/>
          <a:p>
            <a:pPr algn="ctr" indent="0" marL="0">
              <a:lnSpc>
                <a:spcPts val="2200"/>
              </a:lnSpc>
              <a:buNone/>
            </a:pPr>
            <a:r>
              <a:rPr lang="en-US" sz="2200" dirty="0">
                <a:solidFill>
                  <a:srgbClr val="CFD0D8"/>
                </a:solidFill>
                <a:latin typeface="Roboto Medium" pitchFamily="34" charset="0"/>
                <a:ea typeface="Roboto Medium" pitchFamily="34" charset="-122"/>
                <a:cs typeface="Roboto Medium" pitchFamily="34" charset="-120"/>
              </a:rPr>
              <a:t>4</a:t>
            </a:r>
            <a:endParaRPr lang="en-US" sz="2200" dirty="0"/>
          </a:p>
        </p:txBody>
      </p:sp>
      <p:sp>
        <p:nvSpPr>
          <p:cNvPr id="23" name="Text 20"/>
          <p:cNvSpPr/>
          <p:nvPr/>
        </p:nvSpPr>
        <p:spPr>
          <a:xfrm>
            <a:off x="7443549" y="6236494"/>
            <a:ext cx="2731175" cy="291227"/>
          </a:xfrm>
          <a:prstGeom prst="rect">
            <a:avLst/>
          </a:prstGeom>
          <a:noFill/>
          <a:ln/>
        </p:spPr>
        <p:txBody>
          <a:bodyPr wrap="none" lIns="0" tIns="0" rIns="0" bIns="0" rtlCol="0" anchor="t"/>
          <a:lstStyle/>
          <a:p>
            <a:pPr algn="l" indent="0" marL="0">
              <a:lnSpc>
                <a:spcPts val="2250"/>
              </a:lnSpc>
              <a:buNone/>
            </a:pPr>
            <a:r>
              <a:rPr lang="en-US" sz="1800" dirty="0">
                <a:solidFill>
                  <a:srgbClr val="CFD0D8"/>
                </a:solidFill>
                <a:latin typeface="Roboto Medium" pitchFamily="34" charset="0"/>
                <a:ea typeface="Roboto Medium" pitchFamily="34" charset="-122"/>
                <a:cs typeface="Roboto Medium" pitchFamily="34" charset="-120"/>
              </a:rPr>
              <a:t>Recommendation Delivery</a:t>
            </a:r>
            <a:endParaRPr lang="en-US" sz="1800" dirty="0"/>
          </a:p>
        </p:txBody>
      </p:sp>
      <p:sp>
        <p:nvSpPr>
          <p:cNvPr id="24" name="Text 21"/>
          <p:cNvSpPr/>
          <p:nvPr/>
        </p:nvSpPr>
        <p:spPr>
          <a:xfrm>
            <a:off x="7443549" y="6639520"/>
            <a:ext cx="6534507" cy="894755"/>
          </a:xfrm>
          <a:prstGeom prst="rect">
            <a:avLst/>
          </a:prstGeom>
          <a:noFill/>
          <a:ln/>
        </p:spPr>
        <p:txBody>
          <a:bodyPr wrap="square" lIns="0" tIns="0" rIns="0" bIns="0" rtlCol="0" anchor="t"/>
          <a:lstStyle/>
          <a:p>
            <a:pPr algn="l" indent="0" marL="0">
              <a:lnSpc>
                <a:spcPts val="2300"/>
              </a:lnSpc>
              <a:buNone/>
            </a:pPr>
            <a:r>
              <a:rPr lang="en-US" sz="1450" dirty="0">
                <a:solidFill>
                  <a:srgbClr val="CFD0D8"/>
                </a:solidFill>
                <a:latin typeface="Roboto" pitchFamily="34" charset="0"/>
                <a:ea typeface="Roboto" pitchFamily="34" charset="-122"/>
                <a:cs typeface="Roboto" pitchFamily="34" charset="-120"/>
              </a:rPr>
              <a:t>Recommendations are presented to the user in a visually appealing and interactive format, allowing them to browse, discover, and purchase items directly within the app.</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102519"/>
            <a:ext cx="6556296" cy="708779"/>
          </a:xfrm>
          <a:prstGeom prst="rect">
            <a:avLst/>
          </a:prstGeom>
          <a:noFill/>
          <a:ln/>
        </p:spPr>
        <p:txBody>
          <a:bodyPr wrap="none" lIns="0" tIns="0" rIns="0" bIns="0" rtlCol="0" anchor="t"/>
          <a:lstStyle/>
          <a:p>
            <a:pPr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Machine Learning Models</a:t>
            </a:r>
            <a:endParaRPr lang="en-US" sz="4450" dirty="0"/>
          </a:p>
        </p:txBody>
      </p:sp>
      <p:pic>
        <p:nvPicPr>
          <p:cNvPr id="3" name="Image 0" descr="preencoded.png">    </p:cNvPr>
          <p:cNvPicPr>
            <a:picLocks noChangeAspect="1"/>
          </p:cNvPicPr>
          <p:nvPr/>
        </p:nvPicPr>
        <p:blipFill>
          <a:blip r:embed="rId1"/>
          <a:stretch>
            <a:fillRect/>
          </a:stretch>
        </p:blipFill>
        <p:spPr>
          <a:xfrm>
            <a:off x="2978348" y="2264926"/>
            <a:ext cx="2152055" cy="807958"/>
          </a:xfrm>
          <a:prstGeom prst="rect">
            <a:avLst/>
          </a:prstGeom>
        </p:spPr>
      </p:pic>
      <p:sp>
        <p:nvSpPr>
          <p:cNvPr id="4" name="Text 1"/>
          <p:cNvSpPr/>
          <p:nvPr/>
        </p:nvSpPr>
        <p:spPr>
          <a:xfrm>
            <a:off x="3973830" y="2529245"/>
            <a:ext cx="161092" cy="453509"/>
          </a:xfrm>
          <a:prstGeom prst="rect">
            <a:avLst/>
          </a:prstGeom>
          <a:noFill/>
          <a:ln/>
        </p:spPr>
        <p:txBody>
          <a:bodyPr wrap="none" lIns="0" tIns="0" rIns="0" bIns="0" rtlCol="0" anchor="t"/>
          <a:lstStyle/>
          <a:p>
            <a:pPr algn="ctr" indent="0" marL="0">
              <a:lnSpc>
                <a:spcPts val="3550"/>
              </a:lnSpc>
              <a:buNone/>
            </a:pPr>
            <a:r>
              <a:rPr lang="en-US" sz="2200" dirty="0">
                <a:solidFill>
                  <a:srgbClr val="CFD0D8"/>
                </a:solidFill>
                <a:latin typeface="Roboto Medium" pitchFamily="34" charset="0"/>
                <a:ea typeface="Roboto Medium" pitchFamily="34" charset="-122"/>
                <a:cs typeface="Roboto Medium" pitchFamily="34" charset="-120"/>
              </a:rPr>
              <a:t>1</a:t>
            </a:r>
            <a:endParaRPr lang="en-US" sz="2200" dirty="0"/>
          </a:p>
        </p:txBody>
      </p:sp>
      <p:sp>
        <p:nvSpPr>
          <p:cNvPr id="5" name="Text 2"/>
          <p:cNvSpPr/>
          <p:nvPr/>
        </p:nvSpPr>
        <p:spPr>
          <a:xfrm>
            <a:off x="5357217" y="2491740"/>
            <a:ext cx="2778562"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Collaborative Filtering</a:t>
            </a:r>
            <a:endParaRPr lang="en-US" sz="2200" dirty="0"/>
          </a:p>
        </p:txBody>
      </p:sp>
      <p:sp>
        <p:nvSpPr>
          <p:cNvPr id="6" name="Shape 3"/>
          <p:cNvSpPr/>
          <p:nvPr/>
        </p:nvSpPr>
        <p:spPr>
          <a:xfrm>
            <a:off x="5187077" y="3085981"/>
            <a:ext cx="8592860" cy="15240"/>
          </a:xfrm>
          <a:prstGeom prst="roundRect">
            <a:avLst>
              <a:gd name="adj" fmla="val 625116"/>
            </a:avLst>
          </a:prstGeom>
          <a:solidFill>
            <a:srgbClr val="313E80"/>
          </a:solidFill>
          <a:ln/>
        </p:spPr>
      </p:sp>
      <p:pic>
        <p:nvPicPr>
          <p:cNvPr id="7" name="Image 1" descr="preencoded.png">    </p:cNvPr>
          <p:cNvPicPr>
            <a:picLocks noChangeAspect="1"/>
          </p:cNvPicPr>
          <p:nvPr/>
        </p:nvPicPr>
        <p:blipFill>
          <a:blip r:embed="rId2"/>
          <a:stretch>
            <a:fillRect/>
          </a:stretch>
        </p:blipFill>
        <p:spPr>
          <a:xfrm>
            <a:off x="1902381" y="3129558"/>
            <a:ext cx="4304109" cy="807958"/>
          </a:xfrm>
          <a:prstGeom prst="rect">
            <a:avLst/>
          </a:prstGeom>
        </p:spPr>
      </p:pic>
      <p:sp>
        <p:nvSpPr>
          <p:cNvPr id="8" name="Text 4"/>
          <p:cNvSpPr/>
          <p:nvPr/>
        </p:nvSpPr>
        <p:spPr>
          <a:xfrm>
            <a:off x="3973830" y="3306723"/>
            <a:ext cx="161092" cy="453509"/>
          </a:xfrm>
          <a:prstGeom prst="rect">
            <a:avLst/>
          </a:prstGeom>
          <a:noFill/>
          <a:ln/>
        </p:spPr>
        <p:txBody>
          <a:bodyPr wrap="none" lIns="0" tIns="0" rIns="0" bIns="0" rtlCol="0" anchor="t"/>
          <a:lstStyle/>
          <a:p>
            <a:pPr algn="ctr" indent="0" marL="0">
              <a:lnSpc>
                <a:spcPts val="3550"/>
              </a:lnSpc>
              <a:buNone/>
            </a:pPr>
            <a:r>
              <a:rPr lang="en-US" sz="2200" dirty="0">
                <a:solidFill>
                  <a:srgbClr val="CFD0D8"/>
                </a:solidFill>
                <a:latin typeface="Roboto Medium" pitchFamily="34" charset="0"/>
                <a:ea typeface="Roboto Medium" pitchFamily="34" charset="-122"/>
                <a:cs typeface="Roboto Medium" pitchFamily="34" charset="-120"/>
              </a:rPr>
              <a:t>2</a:t>
            </a:r>
            <a:endParaRPr lang="en-US" sz="2200" dirty="0"/>
          </a:p>
        </p:txBody>
      </p:sp>
      <p:sp>
        <p:nvSpPr>
          <p:cNvPr id="9" name="Text 5"/>
          <p:cNvSpPr/>
          <p:nvPr/>
        </p:nvSpPr>
        <p:spPr>
          <a:xfrm>
            <a:off x="6433304" y="3356372"/>
            <a:ext cx="2992874"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Content-Based Filtering</a:t>
            </a:r>
            <a:endParaRPr lang="en-US" sz="2200" dirty="0"/>
          </a:p>
        </p:txBody>
      </p:sp>
      <p:sp>
        <p:nvSpPr>
          <p:cNvPr id="10" name="Shape 6"/>
          <p:cNvSpPr/>
          <p:nvPr/>
        </p:nvSpPr>
        <p:spPr>
          <a:xfrm>
            <a:off x="6263164" y="3950613"/>
            <a:ext cx="7516773" cy="15240"/>
          </a:xfrm>
          <a:prstGeom prst="roundRect">
            <a:avLst>
              <a:gd name="adj" fmla="val 625116"/>
            </a:avLst>
          </a:prstGeom>
          <a:solidFill>
            <a:srgbClr val="313E80"/>
          </a:solidFill>
          <a:ln/>
        </p:spPr>
      </p:sp>
      <p:pic>
        <p:nvPicPr>
          <p:cNvPr id="11" name="Image 2" descr="preencoded.png">    </p:cNvPr>
          <p:cNvPicPr>
            <a:picLocks noChangeAspect="1"/>
          </p:cNvPicPr>
          <p:nvPr/>
        </p:nvPicPr>
        <p:blipFill>
          <a:blip r:embed="rId3"/>
          <a:stretch>
            <a:fillRect/>
          </a:stretch>
        </p:blipFill>
        <p:spPr>
          <a:xfrm>
            <a:off x="826294" y="3994190"/>
            <a:ext cx="6456164" cy="807958"/>
          </a:xfrm>
          <a:prstGeom prst="rect">
            <a:avLst/>
          </a:prstGeom>
        </p:spPr>
      </p:pic>
      <p:sp>
        <p:nvSpPr>
          <p:cNvPr id="12" name="Text 7"/>
          <p:cNvSpPr/>
          <p:nvPr/>
        </p:nvSpPr>
        <p:spPr>
          <a:xfrm>
            <a:off x="3973711" y="4171355"/>
            <a:ext cx="161092" cy="453509"/>
          </a:xfrm>
          <a:prstGeom prst="rect">
            <a:avLst/>
          </a:prstGeom>
          <a:noFill/>
          <a:ln/>
        </p:spPr>
        <p:txBody>
          <a:bodyPr wrap="none" lIns="0" tIns="0" rIns="0" bIns="0" rtlCol="0" anchor="t"/>
          <a:lstStyle/>
          <a:p>
            <a:pPr algn="ctr" indent="0" marL="0">
              <a:lnSpc>
                <a:spcPts val="3550"/>
              </a:lnSpc>
              <a:buNone/>
            </a:pPr>
            <a:r>
              <a:rPr lang="en-US" sz="2200" dirty="0">
                <a:solidFill>
                  <a:srgbClr val="CFD0D8"/>
                </a:solidFill>
                <a:latin typeface="Roboto Medium" pitchFamily="34" charset="0"/>
                <a:ea typeface="Roboto Medium" pitchFamily="34" charset="-122"/>
                <a:cs typeface="Roboto Medium" pitchFamily="34" charset="-120"/>
              </a:rPr>
              <a:t>3</a:t>
            </a:r>
            <a:endParaRPr lang="en-US" sz="2200" dirty="0"/>
          </a:p>
        </p:txBody>
      </p:sp>
      <p:sp>
        <p:nvSpPr>
          <p:cNvPr id="13" name="Text 8"/>
          <p:cNvSpPr/>
          <p:nvPr/>
        </p:nvSpPr>
        <p:spPr>
          <a:xfrm>
            <a:off x="7509272" y="4221004"/>
            <a:ext cx="1825943"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Deep Learning</a:t>
            </a:r>
            <a:endParaRPr lang="en-US" sz="2200" dirty="0"/>
          </a:p>
        </p:txBody>
      </p:sp>
      <p:sp>
        <p:nvSpPr>
          <p:cNvPr id="14" name="Text 9"/>
          <p:cNvSpPr/>
          <p:nvPr/>
        </p:nvSpPr>
        <p:spPr>
          <a:xfrm>
            <a:off x="793790" y="5057299"/>
            <a:ext cx="13042821" cy="725805"/>
          </a:xfrm>
          <a:prstGeom prst="rect">
            <a:avLst/>
          </a:prstGeom>
          <a:noFill/>
          <a:ln/>
        </p:spPr>
        <p:txBody>
          <a:bodyPr wrap="square" lIns="0" tIns="0" rIns="0" bIns="0" rtlCol="0" anchor="t"/>
          <a:lstStyle/>
          <a:p>
            <a:pPr indent="0" marL="0">
              <a:lnSpc>
                <a:spcPts val="2850"/>
              </a:lnSpc>
              <a:buNone/>
            </a:pPr>
            <a:r>
              <a:rPr lang="en-US" sz="1750" dirty="0">
                <a:solidFill>
                  <a:srgbClr val="CFD0D8"/>
                </a:solidFill>
                <a:latin typeface="Roboto" pitchFamily="34" charset="0"/>
                <a:ea typeface="Roboto" pitchFamily="34" charset="-122"/>
                <a:cs typeface="Roboto" pitchFamily="34" charset="-120"/>
              </a:rPr>
              <a:t>E-Shopmate utilizes a combination of machine learning models to ensure accurate and relevant recommendations. Collaborative filtering analyzes the preferences of similar users to identify items that the current user might like.</a:t>
            </a:r>
            <a:endParaRPr lang="en-US" sz="1750" dirty="0"/>
          </a:p>
        </p:txBody>
      </p:sp>
      <p:sp>
        <p:nvSpPr>
          <p:cNvPr id="15" name="Text 10"/>
          <p:cNvSpPr/>
          <p:nvPr/>
        </p:nvSpPr>
        <p:spPr>
          <a:xfrm>
            <a:off x="793790" y="6038255"/>
            <a:ext cx="13042821" cy="1088708"/>
          </a:xfrm>
          <a:prstGeom prst="rect">
            <a:avLst/>
          </a:prstGeom>
          <a:noFill/>
          <a:ln/>
        </p:spPr>
        <p:txBody>
          <a:bodyPr wrap="square" lIns="0" tIns="0" rIns="0" bIns="0" rtlCol="0" anchor="t"/>
          <a:lstStyle/>
          <a:p>
            <a:pPr indent="0" marL="0">
              <a:lnSpc>
                <a:spcPts val="2850"/>
              </a:lnSpc>
              <a:buNone/>
            </a:pPr>
            <a:r>
              <a:rPr lang="en-US" sz="1750" dirty="0">
                <a:solidFill>
                  <a:srgbClr val="CFD0D8"/>
                </a:solidFill>
                <a:latin typeface="Roboto" pitchFamily="34" charset="0"/>
                <a:ea typeface="Roboto" pitchFamily="34" charset="-122"/>
                <a:cs typeface="Roboto" pitchFamily="34" charset="-120"/>
              </a:rPr>
              <a:t>Content-based filtering leverages the user's past interactions and style preferences to recommend similar items. Deep learning algorithms further enhance recommendation accuracy by learning complex patterns from vast amounts of data, providing increasingly personalized and refined recommendations.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12232" y="721757"/>
            <a:ext cx="5088136" cy="636032"/>
          </a:xfrm>
          <a:prstGeom prst="rect">
            <a:avLst/>
          </a:prstGeom>
          <a:noFill/>
          <a:ln/>
        </p:spPr>
        <p:txBody>
          <a:bodyPr wrap="none" lIns="0" tIns="0" rIns="0" bIns="0" rtlCol="0" anchor="t"/>
          <a:lstStyle/>
          <a:p>
            <a:pPr indent="0" marL="0">
              <a:lnSpc>
                <a:spcPts val="5000"/>
              </a:lnSpc>
              <a:buNone/>
            </a:pPr>
            <a:r>
              <a:rPr lang="en-US" sz="4000" dirty="0">
                <a:solidFill>
                  <a:srgbClr val="FFFFFF"/>
                </a:solidFill>
                <a:latin typeface="Roboto Medium" pitchFamily="34" charset="0"/>
                <a:ea typeface="Roboto Medium" pitchFamily="34" charset="-122"/>
                <a:cs typeface="Roboto Medium" pitchFamily="34" charset="-120"/>
              </a:rPr>
              <a:t>Key Features</a:t>
            </a:r>
            <a:endParaRPr lang="en-US" sz="4000" dirty="0"/>
          </a:p>
        </p:txBody>
      </p:sp>
      <p:pic>
        <p:nvPicPr>
          <p:cNvPr id="4" name="Image 1" descr="preencoded.png">    </p:cNvPr>
          <p:cNvPicPr>
            <a:picLocks noChangeAspect="1"/>
          </p:cNvPicPr>
          <p:nvPr/>
        </p:nvPicPr>
        <p:blipFill>
          <a:blip r:embed="rId2"/>
          <a:stretch>
            <a:fillRect/>
          </a:stretch>
        </p:blipFill>
        <p:spPr>
          <a:xfrm>
            <a:off x="712232" y="1663065"/>
            <a:ext cx="508754" cy="508754"/>
          </a:xfrm>
          <a:prstGeom prst="rect">
            <a:avLst/>
          </a:prstGeom>
        </p:spPr>
      </p:pic>
      <p:sp>
        <p:nvSpPr>
          <p:cNvPr id="5" name="Text 1"/>
          <p:cNvSpPr/>
          <p:nvPr/>
        </p:nvSpPr>
        <p:spPr>
          <a:xfrm>
            <a:off x="712232" y="2375297"/>
            <a:ext cx="3682841" cy="318016"/>
          </a:xfrm>
          <a:prstGeom prst="rect">
            <a:avLst/>
          </a:prstGeom>
          <a:noFill/>
          <a:ln/>
        </p:spPr>
        <p:txBody>
          <a:bodyPr wrap="none" lIns="0" tIns="0" rIns="0" bIns="0" rtlCol="0" anchor="t"/>
          <a:lstStyle/>
          <a:p>
            <a:pPr algn="l" indent="0" marL="0">
              <a:lnSpc>
                <a:spcPts val="2500"/>
              </a:lnSpc>
              <a:buNone/>
            </a:pPr>
            <a:r>
              <a:rPr lang="en-US" sz="2000" dirty="0">
                <a:solidFill>
                  <a:srgbClr val="CFD0D8"/>
                </a:solidFill>
                <a:latin typeface="Roboto Medium" pitchFamily="34" charset="0"/>
                <a:ea typeface="Roboto Medium" pitchFamily="34" charset="-122"/>
                <a:cs typeface="Roboto Medium" pitchFamily="34" charset="-120"/>
              </a:rPr>
              <a:t>Personalized Recommendations</a:t>
            </a:r>
            <a:endParaRPr lang="en-US" sz="2000" dirty="0"/>
          </a:p>
        </p:txBody>
      </p:sp>
      <p:sp>
        <p:nvSpPr>
          <p:cNvPr id="6" name="Text 2"/>
          <p:cNvSpPr/>
          <p:nvPr/>
        </p:nvSpPr>
        <p:spPr>
          <a:xfrm>
            <a:off x="712232" y="2815352"/>
            <a:ext cx="3707130" cy="976551"/>
          </a:xfrm>
          <a:prstGeom prst="rect">
            <a:avLst/>
          </a:prstGeom>
          <a:noFill/>
          <a:ln/>
        </p:spPr>
        <p:txBody>
          <a:bodyPr wrap="square" lIns="0" tIns="0" rIns="0" bIns="0" rtlCol="0" anchor="t"/>
          <a:lstStyle/>
          <a:p>
            <a:pPr algn="l" indent="0" marL="0">
              <a:lnSpc>
                <a:spcPts val="2550"/>
              </a:lnSpc>
              <a:buNone/>
            </a:pPr>
            <a:r>
              <a:rPr lang="en-US" sz="1600" dirty="0">
                <a:solidFill>
                  <a:srgbClr val="CFD0D8"/>
                </a:solidFill>
                <a:latin typeface="Roboto" pitchFamily="34" charset="0"/>
                <a:ea typeface="Roboto" pitchFamily="34" charset="-122"/>
                <a:cs typeface="Roboto" pitchFamily="34" charset="-120"/>
              </a:rPr>
              <a:t>E-Shopmate provides tailored clothing recommendations based on individual style preferences and past interactions.</a:t>
            </a:r>
            <a:endParaRPr lang="en-US" sz="1600" dirty="0"/>
          </a:p>
        </p:txBody>
      </p:sp>
      <p:pic>
        <p:nvPicPr>
          <p:cNvPr id="7" name="Image 2" descr="preencoded.png">    </p:cNvPr>
          <p:cNvPicPr>
            <a:picLocks noChangeAspect="1"/>
          </p:cNvPicPr>
          <p:nvPr/>
        </p:nvPicPr>
        <p:blipFill>
          <a:blip r:embed="rId3"/>
          <a:stretch>
            <a:fillRect/>
          </a:stretch>
        </p:blipFill>
        <p:spPr>
          <a:xfrm>
            <a:off x="4724638" y="1663065"/>
            <a:ext cx="508754" cy="508754"/>
          </a:xfrm>
          <a:prstGeom prst="rect">
            <a:avLst/>
          </a:prstGeom>
        </p:spPr>
      </p:pic>
      <p:sp>
        <p:nvSpPr>
          <p:cNvPr id="8" name="Text 3"/>
          <p:cNvSpPr/>
          <p:nvPr/>
        </p:nvSpPr>
        <p:spPr>
          <a:xfrm>
            <a:off x="4724638" y="2375297"/>
            <a:ext cx="2544008" cy="318016"/>
          </a:xfrm>
          <a:prstGeom prst="rect">
            <a:avLst/>
          </a:prstGeom>
          <a:noFill/>
          <a:ln/>
        </p:spPr>
        <p:txBody>
          <a:bodyPr wrap="none" lIns="0" tIns="0" rIns="0" bIns="0" rtlCol="0" anchor="t"/>
          <a:lstStyle/>
          <a:p>
            <a:pPr algn="l" indent="0" marL="0">
              <a:lnSpc>
                <a:spcPts val="2500"/>
              </a:lnSpc>
              <a:buNone/>
            </a:pPr>
            <a:r>
              <a:rPr lang="en-US" sz="2000" dirty="0">
                <a:solidFill>
                  <a:srgbClr val="CFD0D8"/>
                </a:solidFill>
                <a:latin typeface="Roboto Medium" pitchFamily="34" charset="0"/>
                <a:ea typeface="Roboto Medium" pitchFamily="34" charset="-122"/>
                <a:cs typeface="Roboto Medium" pitchFamily="34" charset="-120"/>
              </a:rPr>
              <a:t>Style Quizzes</a:t>
            </a:r>
            <a:endParaRPr lang="en-US" sz="2000" dirty="0"/>
          </a:p>
        </p:txBody>
      </p:sp>
      <p:sp>
        <p:nvSpPr>
          <p:cNvPr id="9" name="Text 4"/>
          <p:cNvSpPr/>
          <p:nvPr/>
        </p:nvSpPr>
        <p:spPr>
          <a:xfrm>
            <a:off x="4724638" y="2815352"/>
            <a:ext cx="3707130" cy="1627584"/>
          </a:xfrm>
          <a:prstGeom prst="rect">
            <a:avLst/>
          </a:prstGeom>
          <a:noFill/>
          <a:ln/>
        </p:spPr>
        <p:txBody>
          <a:bodyPr wrap="square" lIns="0" tIns="0" rIns="0" bIns="0" rtlCol="0" anchor="t"/>
          <a:lstStyle/>
          <a:p>
            <a:pPr algn="l" indent="0" marL="0">
              <a:lnSpc>
                <a:spcPts val="2550"/>
              </a:lnSpc>
              <a:buNone/>
            </a:pPr>
            <a:r>
              <a:rPr lang="en-US" sz="1600" dirty="0">
                <a:solidFill>
                  <a:srgbClr val="CFD0D8"/>
                </a:solidFill>
                <a:latin typeface="Roboto" pitchFamily="34" charset="0"/>
                <a:ea typeface="Roboto" pitchFamily="34" charset="-122"/>
                <a:cs typeface="Roboto" pitchFamily="34" charset="-120"/>
              </a:rPr>
              <a:t>Interactive style quizzes help users refine their preferences and provide E-Shopmate with additional information to generate more accurate recommendations.</a:t>
            </a:r>
            <a:endParaRPr lang="en-US" sz="1600" dirty="0"/>
          </a:p>
        </p:txBody>
      </p:sp>
      <p:pic>
        <p:nvPicPr>
          <p:cNvPr id="10" name="Image 3" descr="preencoded.png">    </p:cNvPr>
          <p:cNvPicPr>
            <a:picLocks noChangeAspect="1"/>
          </p:cNvPicPr>
          <p:nvPr/>
        </p:nvPicPr>
        <p:blipFill>
          <a:blip r:embed="rId4"/>
          <a:stretch>
            <a:fillRect/>
          </a:stretch>
        </p:blipFill>
        <p:spPr>
          <a:xfrm>
            <a:off x="712232" y="5053489"/>
            <a:ext cx="508754" cy="508754"/>
          </a:xfrm>
          <a:prstGeom prst="rect">
            <a:avLst/>
          </a:prstGeom>
        </p:spPr>
      </p:pic>
      <p:sp>
        <p:nvSpPr>
          <p:cNvPr id="11" name="Text 5"/>
          <p:cNvSpPr/>
          <p:nvPr/>
        </p:nvSpPr>
        <p:spPr>
          <a:xfrm>
            <a:off x="712232" y="5765721"/>
            <a:ext cx="2544008" cy="318016"/>
          </a:xfrm>
          <a:prstGeom prst="rect">
            <a:avLst/>
          </a:prstGeom>
          <a:noFill/>
          <a:ln/>
        </p:spPr>
        <p:txBody>
          <a:bodyPr wrap="none" lIns="0" tIns="0" rIns="0" bIns="0" rtlCol="0" anchor="t"/>
          <a:lstStyle/>
          <a:p>
            <a:pPr algn="l" indent="0" marL="0">
              <a:lnSpc>
                <a:spcPts val="2500"/>
              </a:lnSpc>
              <a:buNone/>
            </a:pPr>
            <a:r>
              <a:rPr lang="en-US" sz="2000" dirty="0">
                <a:solidFill>
                  <a:srgbClr val="CFD0D8"/>
                </a:solidFill>
                <a:latin typeface="Roboto Medium" pitchFamily="34" charset="0"/>
                <a:ea typeface="Roboto Medium" pitchFamily="34" charset="-122"/>
                <a:cs typeface="Roboto Medium" pitchFamily="34" charset="-120"/>
              </a:rPr>
              <a:t>Visual Search</a:t>
            </a:r>
            <a:endParaRPr lang="en-US" sz="2000" dirty="0"/>
          </a:p>
        </p:txBody>
      </p:sp>
      <p:sp>
        <p:nvSpPr>
          <p:cNvPr id="12" name="Text 6"/>
          <p:cNvSpPr/>
          <p:nvPr/>
        </p:nvSpPr>
        <p:spPr>
          <a:xfrm>
            <a:off x="712232" y="6205776"/>
            <a:ext cx="3707130" cy="976551"/>
          </a:xfrm>
          <a:prstGeom prst="rect">
            <a:avLst/>
          </a:prstGeom>
          <a:noFill/>
          <a:ln/>
        </p:spPr>
        <p:txBody>
          <a:bodyPr wrap="square" lIns="0" tIns="0" rIns="0" bIns="0" rtlCol="0" anchor="t"/>
          <a:lstStyle/>
          <a:p>
            <a:pPr algn="l" indent="0" marL="0">
              <a:lnSpc>
                <a:spcPts val="2550"/>
              </a:lnSpc>
              <a:buNone/>
            </a:pPr>
            <a:r>
              <a:rPr lang="en-US" sz="1600" dirty="0">
                <a:solidFill>
                  <a:srgbClr val="CFD0D8"/>
                </a:solidFill>
                <a:latin typeface="Roboto" pitchFamily="34" charset="0"/>
                <a:ea typeface="Roboto" pitchFamily="34" charset="-122"/>
                <a:cs typeface="Roboto" pitchFamily="34" charset="-120"/>
              </a:rPr>
              <a:t>Users can upload photos of clothing items they like to find similar items and explore new style options.</a:t>
            </a:r>
            <a:endParaRPr lang="en-US" sz="1600" dirty="0"/>
          </a:p>
        </p:txBody>
      </p:sp>
      <p:pic>
        <p:nvPicPr>
          <p:cNvPr id="13" name="Image 4" descr="preencoded.png">    </p:cNvPr>
          <p:cNvPicPr>
            <a:picLocks noChangeAspect="1"/>
          </p:cNvPicPr>
          <p:nvPr/>
        </p:nvPicPr>
        <p:blipFill>
          <a:blip r:embed="rId5"/>
          <a:stretch>
            <a:fillRect/>
          </a:stretch>
        </p:blipFill>
        <p:spPr>
          <a:xfrm>
            <a:off x="4724638" y="5053489"/>
            <a:ext cx="508754" cy="508754"/>
          </a:xfrm>
          <a:prstGeom prst="rect">
            <a:avLst/>
          </a:prstGeom>
        </p:spPr>
      </p:pic>
      <p:sp>
        <p:nvSpPr>
          <p:cNvPr id="14" name="Text 7"/>
          <p:cNvSpPr/>
          <p:nvPr/>
        </p:nvSpPr>
        <p:spPr>
          <a:xfrm>
            <a:off x="4724638" y="5765721"/>
            <a:ext cx="2544008" cy="318016"/>
          </a:xfrm>
          <a:prstGeom prst="rect">
            <a:avLst/>
          </a:prstGeom>
          <a:noFill/>
          <a:ln/>
        </p:spPr>
        <p:txBody>
          <a:bodyPr wrap="none" lIns="0" tIns="0" rIns="0" bIns="0" rtlCol="0" anchor="t"/>
          <a:lstStyle/>
          <a:p>
            <a:pPr algn="l" indent="0" marL="0">
              <a:lnSpc>
                <a:spcPts val="2500"/>
              </a:lnSpc>
              <a:buNone/>
            </a:pPr>
            <a:r>
              <a:rPr lang="en-US" sz="2000" dirty="0">
                <a:solidFill>
                  <a:srgbClr val="CFD0D8"/>
                </a:solidFill>
                <a:latin typeface="Roboto Medium" pitchFamily="34" charset="0"/>
                <a:ea typeface="Roboto Medium" pitchFamily="34" charset="-122"/>
                <a:cs typeface="Roboto Medium" pitchFamily="34" charset="-120"/>
              </a:rPr>
              <a:t>Seamless Shopping</a:t>
            </a:r>
            <a:endParaRPr lang="en-US" sz="2000" dirty="0"/>
          </a:p>
        </p:txBody>
      </p:sp>
      <p:sp>
        <p:nvSpPr>
          <p:cNvPr id="15" name="Text 8"/>
          <p:cNvSpPr/>
          <p:nvPr/>
        </p:nvSpPr>
        <p:spPr>
          <a:xfrm>
            <a:off x="4724638" y="6205776"/>
            <a:ext cx="3707130" cy="1302068"/>
          </a:xfrm>
          <a:prstGeom prst="rect">
            <a:avLst/>
          </a:prstGeom>
          <a:noFill/>
          <a:ln/>
        </p:spPr>
        <p:txBody>
          <a:bodyPr wrap="square" lIns="0" tIns="0" rIns="0" bIns="0" rtlCol="0" anchor="t"/>
          <a:lstStyle/>
          <a:p>
            <a:pPr algn="l" indent="0" marL="0">
              <a:lnSpc>
                <a:spcPts val="2550"/>
              </a:lnSpc>
              <a:buNone/>
            </a:pPr>
            <a:r>
              <a:rPr lang="en-US" sz="1600" dirty="0">
                <a:solidFill>
                  <a:srgbClr val="CFD0D8"/>
                </a:solidFill>
                <a:latin typeface="Roboto" pitchFamily="34" charset="0"/>
                <a:ea typeface="Roboto" pitchFamily="34" charset="-122"/>
                <a:cs typeface="Roboto" pitchFamily="34" charset="-120"/>
              </a:rPr>
              <a:t>E-Shopmate seamlessly integrates with online clothing retailers, allowing users to browse and purchase recommended items directly within the app.</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2120503"/>
            <a:ext cx="8488680" cy="708779"/>
          </a:xfrm>
          <a:prstGeom prst="rect">
            <a:avLst/>
          </a:prstGeom>
          <a:noFill/>
          <a:ln/>
        </p:spPr>
        <p:txBody>
          <a:bodyPr wrap="none" lIns="0" tIns="0" rIns="0" bIns="0" rtlCol="0" anchor="t"/>
          <a:lstStyle/>
          <a:p>
            <a:pPr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Benefits to Users and Businesses</a:t>
            </a:r>
            <a:endParaRPr lang="en-US" sz="4450" dirty="0"/>
          </a:p>
        </p:txBody>
      </p:sp>
      <p:sp>
        <p:nvSpPr>
          <p:cNvPr id="3" name="Text 1"/>
          <p:cNvSpPr/>
          <p:nvPr/>
        </p:nvSpPr>
        <p:spPr>
          <a:xfrm>
            <a:off x="793790" y="3396258"/>
            <a:ext cx="2835235" cy="354330"/>
          </a:xfrm>
          <a:prstGeom prst="rect">
            <a:avLst/>
          </a:prstGeom>
          <a:noFill/>
          <a:ln/>
        </p:spPr>
        <p:txBody>
          <a:bodyPr wrap="none" lIns="0" tIns="0" rIns="0" bIns="0" rtlCol="0" anchor="t"/>
          <a:lstStyle/>
          <a:p>
            <a:pPr indent="0" marL="0">
              <a:lnSpc>
                <a:spcPts val="2750"/>
              </a:lnSpc>
              <a:buNone/>
            </a:pPr>
            <a:r>
              <a:rPr lang="en-US" sz="2200" dirty="0">
                <a:solidFill>
                  <a:srgbClr val="FFFFFF"/>
                </a:solidFill>
                <a:latin typeface="Roboto Medium" pitchFamily="34" charset="0"/>
                <a:ea typeface="Roboto Medium" pitchFamily="34" charset="-122"/>
                <a:cs typeface="Roboto Medium" pitchFamily="34" charset="-120"/>
              </a:rPr>
              <a:t>User Benefits</a:t>
            </a:r>
            <a:endParaRPr lang="en-US" sz="2200" dirty="0"/>
          </a:p>
        </p:txBody>
      </p:sp>
      <p:sp>
        <p:nvSpPr>
          <p:cNvPr id="4" name="Text 2"/>
          <p:cNvSpPr/>
          <p:nvPr/>
        </p:nvSpPr>
        <p:spPr>
          <a:xfrm>
            <a:off x="793790" y="3977402"/>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Personalized clothing recommendations tailored to individual preferences</a:t>
            </a:r>
            <a:endParaRPr lang="en-US" sz="1750" dirty="0"/>
          </a:p>
        </p:txBody>
      </p:sp>
      <p:sp>
        <p:nvSpPr>
          <p:cNvPr id="5" name="Text 3"/>
          <p:cNvSpPr/>
          <p:nvPr/>
        </p:nvSpPr>
        <p:spPr>
          <a:xfrm>
            <a:off x="793790" y="4782503"/>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Time-saving and efficient shopping experience</a:t>
            </a:r>
            <a:endParaRPr lang="en-US" sz="1750" dirty="0"/>
          </a:p>
        </p:txBody>
      </p:sp>
      <p:sp>
        <p:nvSpPr>
          <p:cNvPr id="6" name="Text 4"/>
          <p:cNvSpPr/>
          <p:nvPr/>
        </p:nvSpPr>
        <p:spPr>
          <a:xfrm>
            <a:off x="793790" y="5224701"/>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Access to a wide range of clothing styles and brands</a:t>
            </a:r>
            <a:endParaRPr lang="en-US" sz="1750" dirty="0"/>
          </a:p>
        </p:txBody>
      </p:sp>
      <p:sp>
        <p:nvSpPr>
          <p:cNvPr id="7" name="Text 5"/>
          <p:cNvSpPr/>
          <p:nvPr/>
        </p:nvSpPr>
        <p:spPr>
          <a:xfrm>
            <a:off x="793790" y="5666899"/>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Discovery of new and exciting fashion trends</a:t>
            </a:r>
            <a:endParaRPr lang="en-US" sz="1750" dirty="0"/>
          </a:p>
        </p:txBody>
      </p:sp>
      <p:sp>
        <p:nvSpPr>
          <p:cNvPr id="8" name="Text 6"/>
          <p:cNvSpPr/>
          <p:nvPr/>
        </p:nvSpPr>
        <p:spPr>
          <a:xfrm>
            <a:off x="7599521" y="3396258"/>
            <a:ext cx="2835235" cy="354330"/>
          </a:xfrm>
          <a:prstGeom prst="rect">
            <a:avLst/>
          </a:prstGeom>
          <a:noFill/>
          <a:ln/>
        </p:spPr>
        <p:txBody>
          <a:bodyPr wrap="none" lIns="0" tIns="0" rIns="0" bIns="0" rtlCol="0" anchor="t"/>
          <a:lstStyle/>
          <a:p>
            <a:pPr indent="0" marL="0">
              <a:lnSpc>
                <a:spcPts val="2750"/>
              </a:lnSpc>
              <a:buNone/>
            </a:pPr>
            <a:r>
              <a:rPr lang="en-US" sz="2200" dirty="0">
                <a:solidFill>
                  <a:srgbClr val="FFFFFF"/>
                </a:solidFill>
                <a:latin typeface="Roboto Medium" pitchFamily="34" charset="0"/>
                <a:ea typeface="Roboto Medium" pitchFamily="34" charset="-122"/>
                <a:cs typeface="Roboto Medium" pitchFamily="34" charset="-120"/>
              </a:rPr>
              <a:t>Business Benefits</a:t>
            </a:r>
            <a:endParaRPr lang="en-US" sz="2200" dirty="0"/>
          </a:p>
        </p:txBody>
      </p:sp>
      <p:sp>
        <p:nvSpPr>
          <p:cNvPr id="9" name="Text 7"/>
          <p:cNvSpPr/>
          <p:nvPr/>
        </p:nvSpPr>
        <p:spPr>
          <a:xfrm>
            <a:off x="7599521" y="3977402"/>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Increased sales and customer engagement</a:t>
            </a:r>
            <a:endParaRPr lang="en-US" sz="1750" dirty="0"/>
          </a:p>
        </p:txBody>
      </p:sp>
      <p:sp>
        <p:nvSpPr>
          <p:cNvPr id="10" name="Text 8"/>
          <p:cNvSpPr/>
          <p:nvPr/>
        </p:nvSpPr>
        <p:spPr>
          <a:xfrm>
            <a:off x="7599521" y="4419600"/>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Improved customer satisfaction and loyalty</a:t>
            </a:r>
            <a:endParaRPr lang="en-US" sz="1750" dirty="0"/>
          </a:p>
        </p:txBody>
      </p:sp>
      <p:sp>
        <p:nvSpPr>
          <p:cNvPr id="11" name="Text 9"/>
          <p:cNvSpPr/>
          <p:nvPr/>
        </p:nvSpPr>
        <p:spPr>
          <a:xfrm>
            <a:off x="7599521" y="4861798"/>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Reduced customer churn and enhanced brand image</a:t>
            </a:r>
            <a:endParaRPr lang="en-US" sz="1750" dirty="0"/>
          </a:p>
        </p:txBody>
      </p:sp>
      <p:sp>
        <p:nvSpPr>
          <p:cNvPr id="12" name="Text 10"/>
          <p:cNvSpPr/>
          <p:nvPr/>
        </p:nvSpPr>
        <p:spPr>
          <a:xfrm>
            <a:off x="7599521" y="5303996"/>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Valuable insights into customer preferences and market trends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734020"/>
            <a:ext cx="5670590" cy="708779"/>
          </a:xfrm>
          <a:prstGeom prst="rect">
            <a:avLst/>
          </a:prstGeom>
          <a:noFill/>
          <a:ln/>
        </p:spPr>
        <p:txBody>
          <a:bodyPr wrap="none" lIns="0" tIns="0" rIns="0" bIns="0" rtlCol="0" anchor="t"/>
          <a:lstStyle/>
          <a:p>
            <a:pPr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Future Scope</a:t>
            </a:r>
            <a:endParaRPr lang="en-US" sz="4450" dirty="0"/>
          </a:p>
        </p:txBody>
      </p:sp>
      <p:sp>
        <p:nvSpPr>
          <p:cNvPr id="3" name="Shape 1"/>
          <p:cNvSpPr/>
          <p:nvPr/>
        </p:nvSpPr>
        <p:spPr>
          <a:xfrm>
            <a:off x="793790" y="1896428"/>
            <a:ext cx="2173724" cy="1669852"/>
          </a:xfrm>
          <a:prstGeom prst="roundRect">
            <a:avLst>
              <a:gd name="adj" fmla="val 5705"/>
            </a:avLst>
          </a:prstGeom>
          <a:solidFill>
            <a:srgbClr val="182567"/>
          </a:solidFill>
          <a:ln w="7620">
            <a:solidFill>
              <a:srgbClr val="313E80"/>
            </a:solidFill>
            <a:prstDash val="solid"/>
          </a:ln>
        </p:spPr>
      </p:sp>
      <p:sp>
        <p:nvSpPr>
          <p:cNvPr id="4" name="Text 2"/>
          <p:cNvSpPr/>
          <p:nvPr/>
        </p:nvSpPr>
        <p:spPr>
          <a:xfrm>
            <a:off x="1028224" y="2504599"/>
            <a:ext cx="161092" cy="453509"/>
          </a:xfrm>
          <a:prstGeom prst="rect">
            <a:avLst/>
          </a:prstGeom>
          <a:noFill/>
          <a:ln/>
        </p:spPr>
        <p:txBody>
          <a:bodyPr wrap="none" lIns="0" tIns="0" rIns="0" bIns="0" rtlCol="0" anchor="t"/>
          <a:lstStyle/>
          <a:p>
            <a:pPr algn="ctr" indent="0" marL="0">
              <a:lnSpc>
                <a:spcPts val="3550"/>
              </a:lnSpc>
              <a:buNone/>
            </a:pPr>
            <a:r>
              <a:rPr lang="en-US" sz="2200" dirty="0">
                <a:solidFill>
                  <a:srgbClr val="CFD0D8"/>
                </a:solidFill>
                <a:latin typeface="Roboto Medium" pitchFamily="34" charset="0"/>
                <a:ea typeface="Roboto Medium" pitchFamily="34" charset="-122"/>
                <a:cs typeface="Roboto Medium" pitchFamily="34" charset="-120"/>
              </a:rPr>
              <a:t>1</a:t>
            </a:r>
            <a:endParaRPr lang="en-US" sz="2200" dirty="0"/>
          </a:p>
        </p:txBody>
      </p:sp>
      <p:sp>
        <p:nvSpPr>
          <p:cNvPr id="5" name="Text 3"/>
          <p:cNvSpPr/>
          <p:nvPr/>
        </p:nvSpPr>
        <p:spPr>
          <a:xfrm>
            <a:off x="3194328" y="212324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AI-powered Styling</a:t>
            </a:r>
            <a:endParaRPr lang="en-US" sz="2200" dirty="0"/>
          </a:p>
        </p:txBody>
      </p:sp>
      <p:sp>
        <p:nvSpPr>
          <p:cNvPr id="6" name="Text 4"/>
          <p:cNvSpPr/>
          <p:nvPr/>
        </p:nvSpPr>
        <p:spPr>
          <a:xfrm>
            <a:off x="3194328" y="2613660"/>
            <a:ext cx="10415468" cy="72580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Develop AI-powered styling assistants that can suggest complete outfits based on the user's wardrobe and preferences, offering virtual styling services.</a:t>
            </a:r>
            <a:endParaRPr lang="en-US" sz="1750" dirty="0"/>
          </a:p>
        </p:txBody>
      </p:sp>
      <p:sp>
        <p:nvSpPr>
          <p:cNvPr id="7" name="Shape 5"/>
          <p:cNvSpPr/>
          <p:nvPr/>
        </p:nvSpPr>
        <p:spPr>
          <a:xfrm>
            <a:off x="3080861" y="3551039"/>
            <a:ext cx="10642402" cy="15240"/>
          </a:xfrm>
          <a:prstGeom prst="roundRect">
            <a:avLst>
              <a:gd name="adj" fmla="val 625116"/>
            </a:avLst>
          </a:prstGeom>
          <a:solidFill>
            <a:srgbClr val="313E80"/>
          </a:solidFill>
          <a:ln/>
        </p:spPr>
      </p:sp>
      <p:sp>
        <p:nvSpPr>
          <p:cNvPr id="8" name="Shape 6"/>
          <p:cNvSpPr/>
          <p:nvPr/>
        </p:nvSpPr>
        <p:spPr>
          <a:xfrm>
            <a:off x="793790" y="3679627"/>
            <a:ext cx="4347567" cy="1669852"/>
          </a:xfrm>
          <a:prstGeom prst="roundRect">
            <a:avLst>
              <a:gd name="adj" fmla="val 5705"/>
            </a:avLst>
          </a:prstGeom>
          <a:solidFill>
            <a:srgbClr val="182567"/>
          </a:solidFill>
          <a:ln w="7620">
            <a:solidFill>
              <a:srgbClr val="313E80"/>
            </a:solidFill>
            <a:prstDash val="solid"/>
          </a:ln>
        </p:spPr>
      </p:sp>
      <p:sp>
        <p:nvSpPr>
          <p:cNvPr id="9" name="Text 7"/>
          <p:cNvSpPr/>
          <p:nvPr/>
        </p:nvSpPr>
        <p:spPr>
          <a:xfrm>
            <a:off x="1028224" y="4287798"/>
            <a:ext cx="161092" cy="453509"/>
          </a:xfrm>
          <a:prstGeom prst="rect">
            <a:avLst/>
          </a:prstGeom>
          <a:noFill/>
          <a:ln/>
        </p:spPr>
        <p:txBody>
          <a:bodyPr wrap="none" lIns="0" tIns="0" rIns="0" bIns="0" rtlCol="0" anchor="t"/>
          <a:lstStyle/>
          <a:p>
            <a:pPr algn="ctr" indent="0" marL="0">
              <a:lnSpc>
                <a:spcPts val="3550"/>
              </a:lnSpc>
              <a:buNone/>
            </a:pPr>
            <a:r>
              <a:rPr lang="en-US" sz="2200" dirty="0">
                <a:solidFill>
                  <a:srgbClr val="CFD0D8"/>
                </a:solidFill>
                <a:latin typeface="Roboto Medium" pitchFamily="34" charset="0"/>
                <a:ea typeface="Roboto Medium" pitchFamily="34" charset="-122"/>
                <a:cs typeface="Roboto Medium" pitchFamily="34" charset="-120"/>
              </a:rPr>
              <a:t>2</a:t>
            </a:r>
            <a:endParaRPr lang="en-US" sz="2200" dirty="0"/>
          </a:p>
        </p:txBody>
      </p:sp>
      <p:sp>
        <p:nvSpPr>
          <p:cNvPr id="10" name="Text 8"/>
          <p:cNvSpPr/>
          <p:nvPr/>
        </p:nvSpPr>
        <p:spPr>
          <a:xfrm>
            <a:off x="5368171" y="3906441"/>
            <a:ext cx="3247668"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Virtual Try-on Technology</a:t>
            </a:r>
            <a:endParaRPr lang="en-US" sz="2200" dirty="0"/>
          </a:p>
        </p:txBody>
      </p:sp>
      <p:sp>
        <p:nvSpPr>
          <p:cNvPr id="11" name="Text 9"/>
          <p:cNvSpPr/>
          <p:nvPr/>
        </p:nvSpPr>
        <p:spPr>
          <a:xfrm>
            <a:off x="5368171" y="4396859"/>
            <a:ext cx="8241625" cy="72580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Integrate virtual try-on technology to allow users to try on clothing digitally, enhancing the shopping experience and reducing return rates.</a:t>
            </a:r>
            <a:endParaRPr lang="en-US" sz="1750" dirty="0"/>
          </a:p>
        </p:txBody>
      </p:sp>
      <p:sp>
        <p:nvSpPr>
          <p:cNvPr id="12" name="Shape 10"/>
          <p:cNvSpPr/>
          <p:nvPr/>
        </p:nvSpPr>
        <p:spPr>
          <a:xfrm>
            <a:off x="5254704" y="5334238"/>
            <a:ext cx="8468558" cy="15240"/>
          </a:xfrm>
          <a:prstGeom prst="roundRect">
            <a:avLst>
              <a:gd name="adj" fmla="val 625116"/>
            </a:avLst>
          </a:prstGeom>
          <a:solidFill>
            <a:srgbClr val="313E80"/>
          </a:solidFill>
          <a:ln/>
        </p:spPr>
      </p:sp>
      <p:sp>
        <p:nvSpPr>
          <p:cNvPr id="13" name="Shape 11"/>
          <p:cNvSpPr/>
          <p:nvPr/>
        </p:nvSpPr>
        <p:spPr>
          <a:xfrm>
            <a:off x="793790" y="5462826"/>
            <a:ext cx="6521410" cy="2032754"/>
          </a:xfrm>
          <a:prstGeom prst="roundRect">
            <a:avLst>
              <a:gd name="adj" fmla="val 4687"/>
            </a:avLst>
          </a:prstGeom>
          <a:solidFill>
            <a:srgbClr val="182567"/>
          </a:solidFill>
          <a:ln w="7620">
            <a:solidFill>
              <a:srgbClr val="313E80"/>
            </a:solidFill>
            <a:prstDash val="solid"/>
          </a:ln>
        </p:spPr>
      </p:sp>
      <p:sp>
        <p:nvSpPr>
          <p:cNvPr id="14" name="Text 12"/>
          <p:cNvSpPr/>
          <p:nvPr/>
        </p:nvSpPr>
        <p:spPr>
          <a:xfrm>
            <a:off x="1028224" y="6252448"/>
            <a:ext cx="161092" cy="453509"/>
          </a:xfrm>
          <a:prstGeom prst="rect">
            <a:avLst/>
          </a:prstGeom>
          <a:noFill/>
          <a:ln/>
        </p:spPr>
        <p:txBody>
          <a:bodyPr wrap="none" lIns="0" tIns="0" rIns="0" bIns="0" rtlCol="0" anchor="t"/>
          <a:lstStyle/>
          <a:p>
            <a:pPr algn="ctr" indent="0" marL="0">
              <a:lnSpc>
                <a:spcPts val="3550"/>
              </a:lnSpc>
              <a:buNone/>
            </a:pPr>
            <a:r>
              <a:rPr lang="en-US" sz="2200" dirty="0">
                <a:solidFill>
                  <a:srgbClr val="CFD0D8"/>
                </a:solidFill>
                <a:latin typeface="Roboto Medium" pitchFamily="34" charset="0"/>
                <a:ea typeface="Roboto Medium" pitchFamily="34" charset="-122"/>
                <a:cs typeface="Roboto Medium" pitchFamily="34" charset="-120"/>
              </a:rPr>
              <a:t>3</a:t>
            </a:r>
            <a:endParaRPr lang="en-US" sz="2200" dirty="0"/>
          </a:p>
        </p:txBody>
      </p:sp>
      <p:sp>
        <p:nvSpPr>
          <p:cNvPr id="15" name="Text 13"/>
          <p:cNvSpPr/>
          <p:nvPr/>
        </p:nvSpPr>
        <p:spPr>
          <a:xfrm>
            <a:off x="7542014" y="5689640"/>
            <a:ext cx="5016103"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Sustainable Fashion Recommendations</a:t>
            </a:r>
            <a:endParaRPr lang="en-US" sz="2200" dirty="0"/>
          </a:p>
        </p:txBody>
      </p:sp>
      <p:sp>
        <p:nvSpPr>
          <p:cNvPr id="16" name="Text 14"/>
          <p:cNvSpPr/>
          <p:nvPr/>
        </p:nvSpPr>
        <p:spPr>
          <a:xfrm>
            <a:off x="7542014" y="6180058"/>
            <a:ext cx="6067782" cy="1088708"/>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Develop a feature that prioritizes sustainable and eco-friendly brands and clothing items, encouraging conscious consumption and promoting sustainable fashion.</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192536"/>
            <a:ext cx="5670590" cy="708779"/>
          </a:xfrm>
          <a:prstGeom prst="rect">
            <a:avLst/>
          </a:prstGeom>
          <a:noFill/>
          <a:ln/>
        </p:spPr>
        <p:txBody>
          <a:bodyPr wrap="none" lIns="0" tIns="0" rIns="0" bIns="0" rtlCol="0" anchor="t"/>
          <a:lstStyle/>
          <a:p>
            <a:pPr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Conclusion</a:t>
            </a:r>
            <a:endParaRPr lang="en-US" sz="4450" dirty="0"/>
          </a:p>
        </p:txBody>
      </p:sp>
      <p:sp>
        <p:nvSpPr>
          <p:cNvPr id="4" name="Text 1"/>
          <p:cNvSpPr/>
          <p:nvPr/>
        </p:nvSpPr>
        <p:spPr>
          <a:xfrm>
            <a:off x="793790" y="3241477"/>
            <a:ext cx="7556421" cy="1088708"/>
          </a:xfrm>
          <a:prstGeom prst="rect">
            <a:avLst/>
          </a:prstGeom>
          <a:noFill/>
          <a:ln/>
        </p:spPr>
        <p:txBody>
          <a:bodyPr wrap="square" lIns="0" tIns="0" rIns="0" bIns="0" rtlCol="0" anchor="t"/>
          <a:lstStyle/>
          <a:p>
            <a:pPr indent="0" marL="0">
              <a:lnSpc>
                <a:spcPts val="2850"/>
              </a:lnSpc>
              <a:buNone/>
            </a:pPr>
            <a:r>
              <a:rPr lang="en-US" sz="1750" dirty="0">
                <a:solidFill>
                  <a:srgbClr val="CFD0D8"/>
                </a:solidFill>
                <a:latin typeface="Roboto" pitchFamily="34" charset="0"/>
                <a:ea typeface="Roboto" pitchFamily="34" charset="-122"/>
                <a:cs typeface="Roboto" pitchFamily="34" charset="-120"/>
              </a:rPr>
              <a:t>E-Shopmate offers a revolutionary approach to clothing recommendation, empowering users with personalized insights, streamlining the shopping process, and fostering a more fulfilling and enjoyable fashion experience.</a:t>
            </a:r>
            <a:endParaRPr lang="en-US" sz="1750" dirty="0"/>
          </a:p>
        </p:txBody>
      </p:sp>
      <p:sp>
        <p:nvSpPr>
          <p:cNvPr id="5" name="Text 2"/>
          <p:cNvSpPr/>
          <p:nvPr/>
        </p:nvSpPr>
        <p:spPr>
          <a:xfrm>
            <a:off x="793790" y="4585335"/>
            <a:ext cx="7556421" cy="1451610"/>
          </a:xfrm>
          <a:prstGeom prst="rect">
            <a:avLst/>
          </a:prstGeom>
          <a:noFill/>
          <a:ln/>
        </p:spPr>
        <p:txBody>
          <a:bodyPr wrap="square" lIns="0" tIns="0" rIns="0" bIns="0" rtlCol="0" anchor="t"/>
          <a:lstStyle/>
          <a:p>
            <a:pPr indent="0" marL="0">
              <a:lnSpc>
                <a:spcPts val="2850"/>
              </a:lnSpc>
              <a:buNone/>
            </a:pPr>
            <a:r>
              <a:rPr lang="en-US" sz="1750" dirty="0">
                <a:solidFill>
                  <a:srgbClr val="CFD0D8"/>
                </a:solidFill>
                <a:latin typeface="Roboto" pitchFamily="34" charset="0"/>
                <a:ea typeface="Roboto" pitchFamily="34" charset="-122"/>
                <a:cs typeface="Roboto" pitchFamily="34" charset="-120"/>
              </a:rPr>
              <a:t>As E-Shopmate continues to evolve, it will leverage cutting-edge technology and data analytics to provide even more personalized, intuitive, and impactful shopping experiences, revolutionizing the way we discover and purchase clothing.</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2024-12-05T16:43:17Z</dcterms:created>
  <dcterms:modified xsi:type="dcterms:W3CDTF">2024-12-05T16:43:17Z</dcterms:modified>
</cp:coreProperties>
</file>